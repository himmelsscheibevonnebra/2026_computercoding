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4주차 오리엔테이션. 파이썬 자료구조 기초 — 오늘의 흐름을 소개하고 Colab 실습으로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주 문법(변수·조건·반복)이 오늘 "그릇"을 만나 데이터 분석의 재료가 된다. 기온 데이터가 5주차 넘파이로 이어짐을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하나의 값 → 여러 개의 값. 데이터 분석은 기본적으로 "여러 개"를 다루는 일. 1주차 기온 리스트 회상.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리스트는 대괄호 + 쉼표. 인덱스는 0부터 — "0번째" 혼란을 명시적으로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슬라이싱 a:b는 b 미포함. 월~수(0:3)로 확인. 문자열과 같은 규칙임을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len·sum·max·min으로 리스트가 곧 데이터가 됨. 1주차 sum/len 평균 코드가 여기서 완전히 해명된다.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append(추가)와 sort(정렬). sort는 원본을 바꾼다 vs sorted는 새 리스트 — 주의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튜플 = 변경 불가 리스트. 요일·좌표처럼 바뀌면 안 되는 값에. 언패킹 맛보기.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딕셔너리 = 이름표(키)로 찾는 사전. 인덱스가 아니라 키로 접근 — 데이터에 "이름"이 붙는 첫 경험(6주차 DataFrame의 씨앗).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keys·values·items 세 가지. for에서 items()가 실전의 90%. keys로 순회하며 grades[k]도 보여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집합은 짧게: 중복 제거가 핵심 용도. set([1,1,2,3]) → {1,2,3}. 순서가 없다는 점만 주의.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백미: enumerate로 요일과 기온이 함께 걷는다. argmax 없이 "가장 더운 요일"을 찾는 경험 = 5주차 argmax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PBL 실습 핵심: 최댓값 인덱스를 반복문으로 직접 찾기. 이 코드가 5주차 np.argmax 한 줄로 바뀐다.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실수 4종: IndexError, b=a 복사 함정, KeyError, { } 혼동. 각각 실제 오류 메시지를 보여 주며.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PBL OX. 정답: O(요일튜플)/X(인덱스0)/O(set)/X(원본변함). 근거 중심 토론.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노트북 week04 실습 3개. 특히 "가장 더운 요일"은 슬라이드 13과 연결 — 스스로 다시 만들게 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라이브로 함께 타이핑하는 종합 예제. 13장 코드 + 평균 + enumerate를 하나의 리포트로.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5주차 예고: 오늘의 10줄이 넘파이에선 3줄. 같은 데이터를 그대로 쓰니 기대감 조성.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노트북 week04 진행 방식. 이번 주가 문법 마지막 주 — 늦은 학생은 미션 1만이라도.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핵심을 학생 말로 다시 말하게 하고 마친다.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5주차 예고: 넘파이 배열. 오늘의 반복문 코드가 벡터화로 바뀜. 준비물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5주차 실습은 노트북 week05. 이번 주 내용이 그대로 이어짐을 재확인.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5200" y="640800"/>
            <a:ext cx="4572000" cy="329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0" b="1">
                <a:solidFill>
                  <a:srgbClr val="16354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400" y="1418400"/>
            <a:ext cx="7315200" cy="32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데이터 분석 입문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600" y="1828800"/>
            <a:ext cx="74988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54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파이썬 자료구조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4400" y="2926800"/>
            <a:ext cx="6948000" cy="41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리스트 · 튜플 · 딕셔너리 · 집합 — 데이터의 그릇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4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4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4주차 / 15주차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36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36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실험·실습 · PBL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28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28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실습 환경 · Google Colab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9200" y="3978000"/>
            <a:ext cx="3747600" cy="15876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000" y="4068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6800" y="4305600"/>
            <a:ext cx="32724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temps[0]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56800" y="4849200"/>
            <a:ext cx="32724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56800" y="4921200"/>
            <a:ext cx="3272400" cy="3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18.5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00" y="5990400"/>
            <a:ext cx="4572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2026년 1학기 · 강의자료 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오리엔테이션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오늘의 학습 목표 — 데이터를 담는 그릇 고르기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7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38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① 리스트로 여러 값을 다룬다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만들기 · 인덱싱 · 슬라이싱 · 정렬 — 데이터의 기본 그릇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08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00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772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② 튜플과 딕셔너리를 구분해 쓴다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바뀌지 않는 값과 이름으로 찾는 값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94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906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③ 반복문과 함께 순회한다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enumerate로 요일과 값이 함께 걷는다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07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6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5040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④ 일주일 기온 데이터를 분석한다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평균 · 최고 · 가장 더운 요일 — 오늘의 종합 실습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2400" y="1555200"/>
            <a:ext cx="3866400" cy="45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2800" y="1782000"/>
            <a:ext cx="3225600" cy="32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오늘의 흐름</a:t>
            </a:r>
          </a:p>
        </p:txBody>
      </p:sp>
      <p:sp>
        <p:nvSpPr>
          <p:cNvPr id="20" name="Oval 19"/>
          <p:cNvSpPr/>
          <p:nvPr/>
        </p:nvSpPr>
        <p:spPr>
          <a:xfrm>
            <a:off x="8182800" y="232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2800" y="231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800" y="22320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리스트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여러 값을 한 줄에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48400" y="26568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82800" y="32544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2800" y="32472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800" y="31644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튜플 · 딕셔너리 · 집합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그릇 네 형제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48400" y="35892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82800" y="41868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2800" y="41796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800" y="40968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순회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for · enumerate · items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48400" y="45216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182800" y="51192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2800" y="51120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800" y="50292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데이터 분석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주간 기온 리포트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도입 · 여러 개의 세계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하나의 값에서 여러 개의 값으로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지금까지의 변수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x = 10 — 값이 하나뿐이었다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현실의 데이터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일주일 기온 7개, 승객 891명, 종가 5일 — 값은 늘 여러 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그래서 자료구조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여러 값을 하나의 이름으로 담고, 꺼내고, 계산하는 그릇 — 오늘 네 가지를 배운다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1주차의 그 코드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temps = [18.5, 19.2, ...] 와 sum(temps)/len(temps) — 기억하나요? 오늘 그 의미가 완전히 열립니다.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여러 값을 한 줄에 — 대괄호 [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만들기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대괄호 안에 쉼표로 나열 — 1주차의 기온 리스트가 바로 이것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인덱싱은 0부터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temps[0]이 첫 번째 값 — "첫 번째가 0번"이 파이썬의 약속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음수 인덱스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temps[-1]은 마지막 값 — 뒤에서 셀 때는 -1, -2, 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4228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days = ['월', '화', '수', '목', '금']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21.0, 19.8, 22.3]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temps[0]     # 첫 번째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temps[-1]    # 마지막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18.5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22.3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범위로 꺼내기 — 슬라이싱 [a:b]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temps[0:3]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인덱스 0부터 3 전까지 — 월·화·수 세 개 (끝은 미포함!)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temps[3:]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인덱스 3부터 끝까지 — 목·금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문자열과 같은 규칙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슬라이싱은 문자열에서도 똑같이 동작 — 한 번 배우면 어디서나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1847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[2]: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0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21.0, 19.8, 22.3]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temps[0:3]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temps[3:]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29505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022500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[18.5, 19.2, 21.0]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[19.8, 22.3]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리스트가 곧 데이터 — 계산 함수들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len( ) · sum( 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개수와 합계 — 1주차의 평균 공식이 오늘 비로소 해명된다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max( ) · min( 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최댓값과 최솟값 — "이번 주 최고 기온"이 한 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5주차의 예고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이 계산을 넘파이는 temps.mean() 처럼 더 짧게 — 그릇이 배열로 진화합니다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6610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[3]: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21.0, 19.8, 22.3]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len(temps)   # 개수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sum(temps)   # 합계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max(temps), min(temps)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8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100.8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(22.3, 18.5)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리스트를 다듬는 메서드 — append ·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append(값)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끝에 하나 추가 — 데이터가 쌓이는 기본 동작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sort( 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작은 것부터 정렬 — 원본 리스트 자체가 바뀐다 (주의!)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sorted(리스트)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정렬된 새 리스트를 돌려줌 — 원본을 유지하고 싶을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4228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[4]: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[21.0, 18.5, 22.3]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temps.append(19.8)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temps.sort()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[21.0, 18.5, 22.3, 19.8]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[18.5, 19.8, 21.0, 22.3]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2 · 튜플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바뀌면 안 되는 값 — 소괄호 (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리스트와 똑같은데 읽기 전용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인덱싱·슬라이싱은 동일 — append·sort로 바꾸는 일은 불가능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언제 쓰나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요일 이름, 좌표(x, y), RGB 색 — "바뀌면 안 되는 값"에 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언패킹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a, b = (1, 2) — 여러 값을 한 번에 꺼내기. 함수의 반환값에서도 등장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4228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[5]: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days = ('월', '화', '수', '목', '금')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days[0]          # 인덱싱은 가능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days.append?     # 추가는 불가능!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mon, tue, wed = ("월", "화", "수")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'월'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'월' '화' '수'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3 · 딕셔너리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이름으로 찾는 그릇 — 중괄호 {키: 값}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키와 값의 쌍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리스트는 "몇 번째", 딕셔너리는 "무엇의" — grades["수학"] 처럼 이름으로 꺼낸다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추가와 수정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grades["영어"] = 92 — 새 키에 대입하면 추가, 있는 키에 대입하면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6주차의 예고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열 이름이 붙은 표(DataFrame)의 씨앗이 오늘 심깁니다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4228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[6]: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grades = {"수학": 90, "과학": 85}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grades["수학"]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grades["영어"] = 92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grades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90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{'수학': 90, '과학': 85, '영어': 92}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3 · 딕셔너리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딕셔너리 훑기 — keys · values ·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keys( ) · values( 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키만, 값만 — 각각 따로 꺼내기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items( 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키와 값이 짝이 되어 나옴 — for에서 가장 많이 쓰는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합계는 values로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sum(grades.values()) — 과목별 점수의 총합이 한 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4228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[7]: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grades = {"수학": 90, "과학": 85, "영어": 92}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subject, score in grades.items():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print(subject, score)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sum(grades.values())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수학 90 / 과학 85 / 영어 92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4 · 집합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중복을 지우는 그릇 —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set(리스트)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중복 값을 한 번씩만 남김 — {1, 2, 3}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순서가 없다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인덱싱이 안 된다 — "어떤 값들이 있는가"가 중요할 때 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실전 용도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설문 응답에서 응답자 유형 알아보기, 방문한 날짜의 종류 세기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194662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[8]: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8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answers = ['네', '아니오', '네', '네', '보류']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set(answers)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len(set(answers))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271237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2784375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{'네', '아니오', '보류'}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실전 · 반복문과 자료구조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enumerate — 값과 번호가 함께 걷는다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기온만 순회하면?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for t in temps: — 값은 있지만 "언제"인지 모른다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enumerate로 함께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for i, t in enumerate(temps): — 번호와 값이 한 쌍으로 나온다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days[i]와 조합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번호로 요일을 꺼내면 "무슨 요일에 몇 도"가 완성 — 5주차 argmax의 예고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4228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[9]: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days = ['월', '화', '수', '목', '금']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21.0, 19.8, 22.3]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i, t in enumerate(temps):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print(days[i], 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월 18.5 / 화 19.2 / 수 21.0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목 19.8 / 금 22.3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실전 · 반복문과 자료구조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"가장 더운 요일" 찾기 — 지금까지의 전부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질문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이번 주 가장 더운 날은 무슨 요일인가? — 1주차 "분석 5단계"의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재료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리스트(기온·요일), 반복문, 조건문, 변수 — 3~4주차의 전부가 한 코드에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5주차의 예고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넘파이는 days[high.argmax()] 한 줄 — 오늘의 반복문이 도구로 바뀝니다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1847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[10]: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best_i = 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i in range(1, len(temps)):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if temps[i] &gt; temps[best_i]: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    best_i = i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days[best_i], temps[best_i]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346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('금', 22.3)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주의 · 자주 하는 실수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막히는 네 지점 — 미리 알면 안 막힌다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IndexError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리스트 길이 5면 인덱스는 0~4 — temps[5]는 범위 초과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b = a의 함정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b = a는 복사가 아니라 별명 — b를 고치면 a도 변한다. 진짜 복사는 b = a[:]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KeyError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딕셔너리에 없는 키를 꺼내면 오류 — grades["음악"]은 없다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{ } 혼동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{ }는 딕셔너리/집합 둘 다 — {키: 값}은 딕셔너리, {값, 값}은 집합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오류 메시지 읽기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오류 마지막 줄의 이름(IndexError 등)이 진단서입니다 — 이름을 검색하면 해법이 나옵니다.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오늘의 퀴즈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맞을까, 틀릴까? — 근거를 붙여서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Q1  요일 이름은 튜플로 저장하기에 좋다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바뀌면 안 되는 값 — 어울릴까?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Q2  파이썬 리스트의 첫 값은 1번 인덱스다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temps[1]은 몇 번째 값일까?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Q3  set은 중복을 자동으로 지워 준다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set([1, 1, 2])의 결과는?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Q4  temps.sort() 후 원본 temps는 그대로다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sort와 sorted의 차이는 무엇일까?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토론 포인트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정답: Q1 O · Q2 X(0번) · Q3 O · Q4 X(원본이 바뀜) — sort vs sorted 차이를 꼭 짚고 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오늘의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week04 노트북 — 세 개의 미션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5616000" cy="1080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5256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미션 1 · 주간 기온 분석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기온 리스트에서 평균·최고·최저·가장 더운 요일 — 13장의 코드를 스스로 다시 만들기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0000"/>
            <a:ext cx="5616000" cy="1080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200" y="2880000"/>
            <a:ext cx="5256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미션 2 · 단어 빈도 세기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문장을 단어로 쪼개 딕셔너리에 세기 — split()과 딕셔너리의 만남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04000"/>
            <a:ext cx="5616000" cy="1080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4104000"/>
            <a:ext cx="5256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미션 3 · 성적 관리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딕셔너리로 학생 성적 추가·수정·평균 — keys·values·items 활용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4800" y="1602000"/>
            <a:ext cx="4802400" cy="17466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[11]: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2400" y="1929600"/>
            <a:ext cx="4356000" cy="850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# 미션 2 힌트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words = "나는 데이터 분석을 배운다".split()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len(words)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42400" y="27409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42400" y="2812950"/>
            <a:ext cx="4356000" cy="355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제출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실행 결과가 남은 .ipynb를 드라이브에 보관 — 다음 주 수업 첫 10분에 미션 1부터 확인합니다.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마무리 · 따라 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주간 기온 리포트 — 오늘 배운 것 전부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① 그릇 만들기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요일·기온 리스트 — 데이터 수집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② 계산하기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평균·최고·최저 — 분석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③ 답하기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"가장 더운 요일은 금요일" — 질문에 답이 나온 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36039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[12]: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229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days = ['월', '화', '수', '목', '금', '토', '일']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21.0, 19.8, 22.3, 21.5, 23.4]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print("평균", round(sum(temps)/len(temps), 1))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print("최고", max(temps), "최저", min(temps))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best_i = 0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i in range(1, len(temps)):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if temps[i] &gt; temps[best_i]: best_i = i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print("가장 더운 요일", days[best_i])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41887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4260750"/>
            <a:ext cx="4356000" cy="765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평균 20.8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최고 23.4 최저 18.5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가장 더운 요일 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마무리 · 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다음 주 — 오늘의 10줄이 세 줄이 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오늘의 코드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가장 더운 요일 찾기: 반복문 + 조건문 6줄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넘파이라면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high.argmax() — 최댓값의 위치가 한 줄. days[np.argsort(-high)]면 순위까지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그릇의 진화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리스트 → 배열(ndarray): 한 번에 계산되는 데이터로 바뀝니다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3562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[13]: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high = np.array([18.5, 19.2, 21.0, 19.8, 22.3])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high.argmax()          # 가장 더운 위치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days[high.argmax()]    # 가장 더운 요일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410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13000"/>
            <a:ext cx="43560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'금'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준비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지금 배운 리스트가 오늘부터 "배열"로 진화합니다 — 3~4주차 노트북을 복습해 오세요.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실습 · 오늘의 노트북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week04 노트북 — 그릇 네 형제를 직접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0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2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74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 받기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수업 플랫폼에서 week04 실습 노트북(.ipynb)을 내려받는다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8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646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위에서부터 실행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Shift + Enter — 리스트 → 튜플 → 딕셔너리 → 집합 순서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4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618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미션 3개 풀기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기온 분석 · 단어 빈도 · 성적 관리 — TODO 칸을 채운다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62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4590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5주차 예고 셀 확인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마지막 셀의 np.array 맛보기 — 다음 주에 정식으로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4800" y="1602000"/>
            <a:ext cx="4802400" cy="338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4800" y="1602000"/>
            <a:ext cx="4442400" cy="33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Notebooks/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 b="1">
                <a:solidFill>
                  <a:srgbClr val="17406B"/>
                </a:solidFill>
                <a:latin typeface="Consolas"/>
                <a:ea typeface="Consolas"/>
                <a:cs typeface="Consolas"/>
              </a:rPr>
              <a:t>week04_data_structures_practice.ipynb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노트북 안에는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그릇 네 형제 따라 하기 셀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⚠ 복사 함정(b = a) 주의 셀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· 💡 내 데이터로 바꿔 보는 감 잡기 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복습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3주차 조건문·반복문이 오늘 계속 등장합니다 — 부족하면 week03 노트북부터 다시.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4000"/>
            <a:ext cx="3657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6400"/>
            <a:ext cx="10058400" cy="5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오늘의 핵심 다섯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00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8400" y="17820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리스트: 순서가 있는 기본 그릇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인덱스는 0부터, 슬라이싱 끝은 미포함, len·sum·max·min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8400" y="25524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6406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8400" y="26226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튜플: 바뀌지 않는 값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요일·좌표처럼 읽기 전용으로 쓴다 — 언패킹도 등장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8400" y="33930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4812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8400" y="34632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딕셔너리: 이름(키)으로 찾는 그릇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grades["수학"] — 6주차 표(DataFrame)의 씨앗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8400" y="42336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3218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8400" y="43038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순회: for · items · enumerate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값과 번호·키와 값이 함께 걷는다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8400" y="50742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51624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8400" y="51444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가장 더운 요일 찾기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반복문+조건문의 완성 — 5주차 넘파이가 이걸 한 줄로 바꾼다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8400" y="6033600"/>
            <a:ext cx="9601200" cy="29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week04 노트북 미션 3개 완주 — 다음 주부터는 데이터 분석 도구(넘파이)가 시작됩니다.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200"/>
            <a:ext cx="5486400" cy="29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다음 주 예고 · 5주차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600"/>
            <a:ext cx="105156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넘파이(NumPy) — 배열로 데이터 다루기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39200"/>
            <a:ext cx="9601200" cy="36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오늘의 리스트가 배열이 되면, 반복문 없이 한 번에 계산됩니다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4000"/>
            <a:ext cx="3708000" cy="16560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200" y="3384000"/>
            <a:ext cx="3348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리스트 → 배열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그릇이 진화하면 계산이 한 번에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8000" y="3384000"/>
            <a:ext cx="3708000" cy="16560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8000" y="3384000"/>
            <a:ext cx="3348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Google Colab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넘파이는 이미 설치 — 바로 실습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200" y="2952000"/>
            <a:ext cx="3016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다음 주의 두 약속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0000" y="3384000"/>
            <a:ext cx="3200400" cy="13716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3600" y="3384000"/>
            <a:ext cx="283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준비물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① week04 노트북 미션 3개 완주 ② 3주차 조건문·반복문 복습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4주차 자료구조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준비 · 다음 주를 위한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5주차 넘파이 — 이것만 준비하면 시작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0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2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74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week04 노트북 완주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미션 3개(기온·단어·성적)까지 실행 결과를 남긴다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8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646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조건문·반복문 복습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week03 노트북의 if·for 섹션 다시 실행 — 넘파이와 비교할 재료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65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4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618000"/>
            <a:ext cx="49752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Colab 접속 확인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넘파이는 Colab에 미리 설치되어 있습니다 — 접속만 되면 준비 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4800" y="1602000"/>
            <a:ext cx="4802400" cy="30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4800" y="1602000"/>
            <a:ext cx="4442400" cy="30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다음 주에 만날 코드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E2A36"/>
                </a:solidFill>
                <a:latin typeface="Consolas"/>
                <a:ea typeface="Consolas"/>
                <a:cs typeface="Consolas"/>
              </a:rPr>
              <a:t>high.argmax()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E2A36"/>
                </a:solidFill>
                <a:latin typeface="Consolas"/>
                <a:ea typeface="Consolas"/>
                <a:cs typeface="Consolas"/>
              </a:rPr>
              <a:t>high.mean()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solidFill>
                  <a:srgbClr val="1E2A36"/>
                </a:solidFill>
                <a:latin typeface="Consolas"/>
                <a:ea typeface="Consolas"/>
                <a:cs typeface="Consolas"/>
              </a:rPr>
              <a:t>high[high &gt; 20]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오늘의 반복문이 전부 한 줄이 됩니다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기대 포인트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"가장 더운 요일 찾기" 6줄이 한 줄이 되는 순간을 보여 드립니다 — 5주차 Colab에서 만나요.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