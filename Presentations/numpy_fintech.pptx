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3시간 핀테크 NumPy 수업. 코드샵 한 달 정산이라는 연결된 예제로 진행함을 소개. 가정(가상 데이터·단리·세금 제외)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목표 5개는 원 수업 자료와 동일. 오른쪽 3규칙이 오늘 예제 진행의 원리 — 위에서 만든 변수를 계속 쓰기 때문에 순서대로 실행이 필수임을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시간표 바: 구간 너비=시간 비율. 각 단계는 '설명→따라하기→해보기' 리듬. 예측 먼저 원칙은 원 수업 자료의 운영 메모에서 가져옴.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무대 설정 슬라이드. 상품 4개 카드와 prices 배열을 연결해 보여준다. '순서의 합의'가 1단계의 경고(순서 불일치 버그)를 위한 복선.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리스트 *2의 반복 결과가 학생의 예상을 빗나가게 하는 게 포인트. 금융 맥락(전체에 같은 비율)과 연결. np는 관례적 별명임을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위치끼리 곱셈. 격자 시각화로 가격×수량=매출 대응을 읽게 한다. 순서 불일치 경고는 원 수업 자료 확인 질문 3번과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집계 4종. 스티커 팩이 매출 1위(45개 판매)라는 스토리로 max/min에 의미를 부여. 해보기로 prices/quantities에도 적용해 감을 익히게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스칼라 곱셈(0단계)의 재활용 + 새 문법 '배열-배열'. 65812.5가 다음 반올림 슬라이드로 이어지는 훅. 총 입금액 429,097.5원은 5단계 예금 원금으로 재사용.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은행가 반올림(banker's rounding) 소개. 원 수업 자료의 반올림 노트 그대로. '정수형 변환이 아니다'도 강조 — astype은 다음 학기/심화.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배열+배열(같은 위치 덧셈). 1단계 문법이 4단계에서 다시 등장한다는 점을 짚어준다. 누적 총매출 862,000원.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입금액(429,097.5원)이 예금 원금으로 이어짐 — 예제의 연결성 강조. round(값, 2) 자릿수 지정이 이 단계의 새 문법. 원 수업 자료의 '금리 바꾸기' 학생 문제와 동일한 해보기.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 실습 슬라이드. 학생이 직접 타이핑하게 하는 시간(140~170분). 오른쪽 매핑으로 '조립'임을 확인시킨다. 해보기: 누적 총매출 한 줄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정리표 완독. 노트북의 마무리 표와 동일 — 슬라이드와 노트북이 같은 정리를 공유해 수업 후 복습이 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 수업 자료의 확인 질문 4개(순서만 재구성). 짝 토론 후 구두 확인. 1번·4번은 이번 수업의 '아하' 포인트였던 두 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3시간에서 '제외'로 둔 주제들을 욕심내는 질문으로 제시 — 다음 학습 동기 부여. 노트북 재실행이 복습임을 재강조하며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5029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0" b="1" dirty="0">
                <a:solidFill>
                  <a:srgbClr val="163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강의 자료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 기초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상점 '코드샵'의 한 달 정산으로 배우는 배열 계산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3시간 수업 · 180분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36118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36118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· 파이썬 입문 완료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36118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9525">
            <a:solidFill>
              <a:srgbClr val="274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6118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· Google Colab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3977640"/>
            <a:ext cx="3749040" cy="2198370"/>
          </a:xfrm>
          <a:prstGeom prst="roundRect">
            <a:avLst>
              <a:gd name="adj" fmla="val 2912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55864" y="4306824"/>
            <a:ext cx="3273552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np.array([9000, 25000,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4000, 18000])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5500878"/>
            <a:ext cx="32735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5574030"/>
            <a:ext cx="3273552" cy="492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array([18000, 50000,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8000, 36000])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수업용 가상 데이터 · 이자는 단리 · 세금 제외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목표와 수업 운영 규칙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5727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리스트와 배열의 곱셈 결과 차이를 설명한다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44144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전체에 곱셈·덧셈을 한 번에 적용한다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3101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위치의 원소끼리 배열 연산을 수행한다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1788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합계·평균·최댓값·최솟값으로 요약한다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57200" y="509320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504748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할인과 수수료를 반영한 정산 리포트를 완성한다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863840" y="1554480"/>
            <a:ext cx="3867912" cy="4480560"/>
          </a:xfrm>
          <a:prstGeom prst="roundRect">
            <a:avLst>
              <a:gd name="adj" fmla="val 2128"/>
            </a:avLst>
          </a:prstGeom>
          <a:solidFill>
            <a:srgbClr val="EDF4FA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783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 운영 규칙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83880" y="2322576"/>
            <a:ext cx="329184" cy="329184"/>
          </a:xfrm>
          <a:prstGeom prst="ellipse">
            <a:avLst/>
          </a:prstGeom>
          <a:solidFill>
            <a:srgbClr val="C9890B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68512" y="223113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만든 변수를 끝까지 사용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만든 prices는 마지막 단계까지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48472" y="2651760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255264"/>
            <a:ext cx="329184" cy="329184"/>
          </a:xfrm>
          <a:prstGeom prst="ellipse">
            <a:avLst/>
          </a:prstGeom>
          <a:solidFill>
            <a:srgbClr val="C9890B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68512" y="3163824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새 문법은 하나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제목에 '새 문법'을 표시합니다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3584448"/>
            <a:ext cx="0" cy="475488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4187952"/>
            <a:ext cx="329184" cy="329184"/>
          </a:xfrm>
          <a:prstGeom prst="ellipse">
            <a:avLst/>
          </a:prstGeom>
          <a:solidFill>
            <a:srgbClr val="C9890B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68512" y="4096512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단계 결과를 출력해 확인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어떻게 바뀌는지 눈으로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83880" y="557784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예제 — 코드샵 한 달 정산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180분 수업 시간표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225296" cy="5029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837944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0~20분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74320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0단계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 vs 배열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09928" y="2148840"/>
            <a:ext cx="1538478" cy="5029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1837944"/>
            <a:ext cx="2023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20~45분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35608" y="2743200"/>
            <a:ext cx="20871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1~2단계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계산·요약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75838" y="2148840"/>
            <a:ext cx="59893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3275838" y="2148840"/>
            <a:ext cx="5989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1518" y="2743200"/>
            <a:ext cx="1147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02202" y="2148840"/>
            <a:ext cx="1538478" cy="5029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16" name="Text 14"/>
          <p:cNvSpPr/>
          <p:nvPr/>
        </p:nvSpPr>
        <p:spPr>
          <a:xfrm>
            <a:off x="3673602" y="1837944"/>
            <a:ext cx="2023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55~80분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7882" y="2743200"/>
            <a:ext cx="20871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세일·수수료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68112" y="2148840"/>
            <a:ext cx="1538478" cy="5029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19" name="Text 17"/>
          <p:cNvSpPr/>
          <p:nvPr/>
        </p:nvSpPr>
        <p:spPr>
          <a:xfrm>
            <a:off x="5239512" y="1837944"/>
            <a:ext cx="2023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80~105분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2743200"/>
            <a:ext cx="20871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34022" y="2148840"/>
            <a:ext cx="59893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7034022" y="2148840"/>
            <a:ext cx="5989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59702" y="2743200"/>
            <a:ext cx="1147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60386" y="2148840"/>
            <a:ext cx="1538478" cy="5029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25" name="Text 23"/>
          <p:cNvSpPr/>
          <p:nvPr/>
        </p:nvSpPr>
        <p:spPr>
          <a:xfrm>
            <a:off x="7431786" y="1837944"/>
            <a:ext cx="2023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115~140분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86066" y="2743200"/>
            <a:ext cx="20871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예금 이자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26296" y="2148840"/>
            <a:ext cx="1851660" cy="5029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28" name="Text 26"/>
          <p:cNvSpPr/>
          <p:nvPr/>
        </p:nvSpPr>
        <p:spPr>
          <a:xfrm>
            <a:off x="8997696" y="1837944"/>
            <a:ext cx="2336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140~170분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51976" y="2743200"/>
            <a:ext cx="24003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리포트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105388" y="2148840"/>
            <a:ext cx="598932" cy="5029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31" name="Text 29"/>
          <p:cNvSpPr/>
          <p:nvPr/>
        </p:nvSpPr>
        <p:spPr>
          <a:xfrm>
            <a:off x="10876788" y="1837944"/>
            <a:ext cx="1083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170~180분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831068" y="2743200"/>
            <a:ext cx="1147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300" dirty="0"/>
          </a:p>
          <a:p>
            <a:pPr algn="ctr" indent="0" marL="0">
              <a:spcAft>
                <a:spcPts val="100"/>
              </a:spcAft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11247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운영 리듬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설명·시연 5~10분 → 따라 하기 5분 → 해보기·피드백 10분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11247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먼저, 실행 나중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바꾸면 결과를 먼저 예상하게 한다 — 예상이 빗나가는 곳이 개념이 굳는 지점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7200" y="5532120"/>
            <a:ext cx="11247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방법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후 실습 노트북을 처음부터 다시 실행하면 예제 전체가 복습이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무대 설정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상점 '코드샵' — 상품 4개로 시작합니다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머그컵</a:t>
            </a:r>
            <a:endParaRPr lang="en-US" sz="16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9,000원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00984" y="16916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00984" y="16916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티셔츠</a:t>
            </a:r>
            <a:endParaRPr lang="en-US" sz="16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25,000원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4768" y="16916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6916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팩</a:t>
            </a:r>
            <a:endParaRPr lang="en-US" sz="16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4,000원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88552" y="16916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88552" y="16916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텀블러</a:t>
            </a:r>
            <a:endParaRPr lang="en-US" sz="16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18,000원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6720840" cy="1445895"/>
          </a:xfrm>
          <a:prstGeom prst="roundRect">
            <a:avLst>
              <a:gd name="adj" fmla="val 4427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3611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[2]: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" y="3849624"/>
            <a:ext cx="6245352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np.array([9000, 25000, 4000, 18000])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" y="447217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545330"/>
            <a:ext cx="62453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array([ 9000, 25000,  4000, 18000])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361188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배열의 순서 = 상품 순서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모든 배열이 이 순서(머그컵·티셔츠·스티커 팩·텀블러)를 끝까지 유지합니다.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순서가 어긋나면 뒷단계 계산이 전부 어긋납니다.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553212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5321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prices 배열 하나로 마지막 단계까지 갑니다 — 오늘의 모든 계산이 이 배열에서 출발합니다.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0단계 · 새 문법: np.array, 전체에 곱셈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 * 2 ≠ 배열 * 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리스트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5486400" cy="1645920"/>
          </a:xfrm>
          <a:prstGeom prst="roundRect">
            <a:avLst>
              <a:gd name="adj" fmla="val 3889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975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212848"/>
            <a:ext cx="5010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prices_list = [9000, 25000, 4000, 18000]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prices_list *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" y="2816352"/>
            <a:ext cx="501091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889504"/>
            <a:ext cx="5010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[9000, 25000, 4000, 18000,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9000, 25000, 4000, 18000]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곱셈이 아니라 반복!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 배열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88366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1975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[4]: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01384" y="2212848"/>
            <a:ext cx="4965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np.array([9000, 25000, 4000, 18000])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01384" y="2816352"/>
            <a:ext cx="496519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2889504"/>
            <a:ext cx="4965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array([18000, 50000,  8000, 36000])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639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모든 원소에 2가 곱해짐!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리스트는 '반복', 배열은 '원소별 계산'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차이가 오늘 수업의 출발점 — 금리·수수료·할인처럼 '똑같은 비율을 전체에' 적용하는 금융 계산의 기본기입니다.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5577840"/>
            <a:ext cx="11274552" cy="502920"/>
          </a:xfrm>
          <a:prstGeom prst="roundRect">
            <a:avLst>
              <a:gd name="adj" fmla="val 12727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57784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해보기   </a:t>
            </a:r>
            <a:pPr indent="0" marL="0">
              <a:buNone/>
            </a:pPr>
            <a:r>
              <a:rPr lang="en-US" sz="1350" dirty="0">
                <a:solidFill>
                  <a:srgbClr val="5C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곱하는 숫자를 3으로 바꾸고, 두 결과를 먼저 예상한 뒤 실행해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새 문법: 배열 × 배열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위치끼리 곱셈 — 상품별 매출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17320" y="1627632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627632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8648" y="1627632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627632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9976" y="1627632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1627632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61304" y="1627632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1304" y="1627632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417320" y="2468880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468880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98648" y="2468880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98648" y="2468880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79976" y="2468880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9976" y="2468880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61304" y="2468880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468880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417320" y="3310128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310128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98648" y="3310128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98648" y="3310128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79976" y="3310128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9976" y="3310128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61304" y="3310128"/>
            <a:ext cx="1435608" cy="521208"/>
          </a:xfrm>
          <a:prstGeom prst="roundRect">
            <a:avLst>
              <a:gd name="adj" fmla="val 6140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61304" y="3310128"/>
            <a:ext cx="1435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126000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0584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543800" y="1691640"/>
            <a:ext cx="4160520" cy="1607820"/>
          </a:xfrm>
          <a:prstGeom prst="roundRect">
            <a:avLst>
              <a:gd name="adj" fmla="val 398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54112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[5]: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81544" y="2020824"/>
            <a:ext cx="3685032" cy="730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quantities = np.array([12, 3, 45, 7])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prices * quantities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81544" y="2824353"/>
            <a:ext cx="36850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81544" y="2897505"/>
            <a:ext cx="368503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array([108000,  75000, 180000, 126000])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526280"/>
            <a:ext cx="12188952" cy="5669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262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54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prices와 quantities의 상품 순서가 같아야 정확합니다 — 순서가 다르면 에러 없이 엉뚱한 값이 나오는, 금융 계산에서 가장 무서운 버그!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57200" y="5349240"/>
            <a:ext cx="11274552" cy="502920"/>
          </a:xfrm>
          <a:prstGeom prst="roundRect">
            <a:avLst>
              <a:gd name="adj" fmla="val 12727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34924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해보기   </a:t>
            </a:r>
            <a:pPr indent="0" marL="0">
              <a:buNone/>
            </a:pPr>
            <a:r>
              <a:rPr lang="en-US" sz="1350" dirty="0">
                <a:solidFill>
                  <a:srgbClr val="5C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하나를 바꾸면 어떤 상품의 매출만 바뀌는지 먼저 예상한 뒤 실행해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새 문법: sum · mean · max · min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전체를 한 번에 요약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7406B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45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489,000원</a:t>
            </a:r>
            <a:endParaRPr lang="en-US" sz="2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9DB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매출 — sum()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300984" y="1645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8144" y="1645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122,250원</a:t>
            </a:r>
            <a:endParaRPr lang="en-US" sz="2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매출 — mean()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81928" y="1645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180,000원</a:t>
            </a:r>
            <a:endParaRPr lang="en-US" sz="2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매출 — max() (스티커 팩)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988552" y="16459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25712" y="1645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75,000원</a:t>
            </a:r>
            <a:endParaRPr lang="en-US" sz="2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매출 — min() (티셔츠)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6720840" cy="1519428"/>
          </a:xfrm>
          <a:prstGeom prst="roundRect">
            <a:avLst>
              <a:gd name="adj" fmla="val 4213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3520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[6]: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" y="3758184"/>
            <a:ext cx="6245352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revenue.sum()    # 총 매출   → 489000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revenue.mean()   # 평균 매출 → 122250.0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revenue.max()    # 최대(스티커 팩) → 180000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revenue.min()    # 최소(티셔츠)   → 75000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361188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반복문 없이, 배열 통째로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문으로 하나씩 더하던 작업을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— 1단계의 revenue를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사용합니다.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74552" cy="502920"/>
          </a:xfrm>
          <a:prstGeom prst="roundRect">
            <a:avLst>
              <a:gd name="adj" fmla="val 12727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2120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해보기   </a:t>
            </a:r>
            <a:pPr indent="0" marL="0">
              <a:buNone/>
            </a:pPr>
            <a:r>
              <a:rPr lang="en-US" sz="1350" dirty="0">
                <a:solidFill>
                  <a:srgbClr val="5C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prices.sum(), quantities.mean() 처럼 다른 배열에도 같은 함수를 써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새 문법: 배열 − 배열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플래시 세일 10%, 결제 수수료 2.5% 차감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17406B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91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B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44568" y="16916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1691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0.9  →  할인 후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31936" y="16916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69096" y="1691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0.025 수수료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167128"/>
            <a:ext cx="777240" cy="0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44968" y="2167128"/>
            <a:ext cx="777240" cy="0"/>
          </a:xfrm>
          <a:prstGeom prst="line">
            <a:avLst/>
          </a:prstGeom>
          <a:noFill/>
          <a:ln w="22225">
            <a:solidFill>
              <a:srgbClr val="8FA8B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44568" y="297180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0A202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971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입금액 = discounted − fees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6720840" cy="1874520"/>
          </a:xfrm>
          <a:prstGeom prst="roundRect">
            <a:avLst>
              <a:gd name="adj" fmla="val 3415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" y="3977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[7]: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" y="4215384"/>
            <a:ext cx="6245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discounted = revenue * 0.9      # 10% 할인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fees = discounted * 0.025       # 수수료 2.5%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settlements = discounted - fees # 배열 - 배열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527608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5349240"/>
            <a:ext cx="6245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array([ 94770. ,  65812.5, 157950. , 110565. ])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397764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fees.sum()  →  11,002.5원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settlements.sum()  →  429,097.5원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입금액에 소수가 남는다 →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장에서 반올림!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새 문법: np.round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단위 반올림 — 그런데 왜 짝수?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77840" cy="1207770"/>
          </a:xfrm>
          <a:prstGeom prst="roundRect">
            <a:avLst>
              <a:gd name="adj" fmla="val 5300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[8]: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2020824"/>
            <a:ext cx="51023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np.round(settlements)   # 원 단위 반올림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405253"/>
            <a:ext cx="5102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478405"/>
            <a:ext cx="510235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array([ 94770.,  65812., 157950., 110565.])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65812.5 → 65813이 아니라 65812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np.round은 딱 가운데 값일 때 '가까운 짝수' 쪽으로 반올림합니다.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1691640" cy="603504"/>
          </a:xfrm>
          <a:prstGeom prst="roundRect">
            <a:avLst>
              <a:gd name="adj" fmla="val 9091"/>
            </a:avLst>
          </a:prstGeom>
          <a:solidFill>
            <a:srgbClr val="EDF4FA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690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 </a:t>
            </a:r>
            <a:pPr algn="ctr" indent="0" marL="0">
              <a:buNone/>
            </a:pPr>
            <a:r>
              <a:rPr lang="en-US" sz="14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4069080"/>
            <a:ext cx="1691640" cy="603504"/>
          </a:xfrm>
          <a:prstGeom prst="roundRect">
            <a:avLst>
              <a:gd name="adj" fmla="val 9091"/>
            </a:avLst>
          </a:prstGeom>
          <a:solidFill>
            <a:srgbClr val="EDF4FA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40690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 </a:t>
            </a:r>
            <a:pPr algn="ctr" indent="0" marL="0">
              <a:buNone/>
            </a:pPr>
            <a:r>
              <a:rPr lang="en-US" sz="14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06240" y="4069080"/>
            <a:ext cx="1691640" cy="603504"/>
          </a:xfrm>
          <a:prstGeom prst="roundRect">
            <a:avLst>
              <a:gd name="adj" fmla="val 9091"/>
            </a:avLst>
          </a:prstGeom>
          <a:solidFill>
            <a:srgbClr val="EDF4FA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40690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65812.5  </a:t>
            </a:r>
            <a:pPr algn="ctr" indent="0" marL="0">
              <a:buNone/>
            </a:pPr>
            <a:r>
              <a:rPr lang="en-US" sz="1400" b="1" dirty="0">
                <a:solidFill>
                  <a:srgbClr val="C98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65812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np.round(65812.5)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3957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6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65812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65813이 아닐까?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5120640"/>
            <a:ext cx="12188952" cy="60350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12064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np.round는 반올림된 값을 '보여줄 뿐' 자료형을 정수로 바꾸는 기능은 아닙니다 — 실제 금융 서비스의 원 단위 처리 규칙은 별도로 정합니다.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· 새 문법: 배열 + 배열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지난달과 합쳐 — 두 달 누적 판매 수량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91640" y="166420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66420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53512" y="166420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66420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15384" y="166420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5384" y="166420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77256" y="166420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7256" y="166420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91640" y="248716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248716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53512" y="248716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248716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15384" y="248716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5384" y="248716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77256" y="248716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2F7FB"/>
          </a:solidFill>
          <a:ln w="9525">
            <a:solidFill>
              <a:srgbClr val="C9D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248716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015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달 누적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91640" y="331012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331012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53512" y="331012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331012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15384" y="331012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15384" y="331012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77256" y="3310128"/>
            <a:ext cx="1216152" cy="502920"/>
          </a:xfrm>
          <a:prstGeom prst="roundRect">
            <a:avLst>
              <a:gd name="adj" fmla="val 6364"/>
            </a:avLst>
          </a:prstGeom>
          <a:solidFill>
            <a:srgbClr val="F0A202"/>
          </a:solidFill>
          <a:ln w="9525">
            <a:solidFill>
              <a:srgbClr val="C98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77256" y="331012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3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8016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2801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223760" y="1691640"/>
            <a:ext cx="4480560" cy="2265045"/>
          </a:xfrm>
          <a:prstGeom prst="roundRect">
            <a:avLst>
              <a:gd name="adj" fmla="val 2826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34072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[9]: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61504" y="2020824"/>
            <a:ext cx="4005072" cy="116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last_month = np.array([9, 2, 38, 5])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total_qty = quantities + last_month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 = prices * total_qty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total_revenue.sum()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61504" y="3262503"/>
            <a:ext cx="400507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61504" y="3335655"/>
            <a:ext cx="4005072" cy="51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[21  5 83 12]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862000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526280"/>
            <a:ext cx="121889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1단계에서 배운 '배열 × 배열'을 새 데이터에 그대로 재사용 — 누적 총매출 862,000원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57200" y="5303520"/>
            <a:ext cx="11274552" cy="502920"/>
          </a:xfrm>
          <a:prstGeom prst="roundRect">
            <a:avLst>
              <a:gd name="adj" fmla="val 12727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3035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해보기   </a:t>
            </a:r>
            <a:pPr indent="0" marL="0">
              <a:buNone/>
            </a:pPr>
            <a:r>
              <a:rPr lang="en-US" sz="1350" dirty="0">
                <a:solidFill>
                  <a:srgbClr val="5C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수량을 바꿔서 누적 총매출이 얼마가 될지 손계산으로 먼저 예상해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· 새 문법: np.round(값, 2)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정산금을 예금에 — 연 3% 단리 1년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760720" cy="1684020"/>
          </a:xfrm>
          <a:prstGeom prst="roundRect">
            <a:avLst>
              <a:gd name="adj" fmla="val 3801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[10]: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2020824"/>
            <a:ext cx="528523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= settlements.sum()   # 3단계의 입금액 전액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 = cash * 0.03     # 연 3% 단리 1년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np.round(interest, 2)      # 소수점 둘째 자리까지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881503"/>
            <a:ext cx="528523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954655"/>
            <a:ext cx="5285232" cy="31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12872.92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np.round(값, 2)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자릿수를 지정하면 소수점 아래를 살릴 수 있습니다 — 이자·환율처럼 원 단위보다 작은 돈을 다룰 때 필요합니다.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37960" y="15544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60934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429,097.5원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예금 원금 — settlements.sum()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537960" y="2688336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74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12,872.92원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이자 (단리 3%)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37960" y="3822192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17406B"/>
          </a:solidFill>
          <a:ln w="12700">
            <a:solidFill>
              <a:srgbClr val="17406B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87705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441,970.42원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9DB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뒤 잔액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0" y="5084064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084064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 — 단리 1년, 세금 제외, 수업용 가상 금리. 실제 상품은 복리이며 이자율·과세 규칙이 다릅니다.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724144"/>
            <a:ext cx="11274552" cy="502920"/>
          </a:xfrm>
          <a:prstGeom prst="roundRect">
            <a:avLst>
              <a:gd name="adj" fmla="val 12727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724144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해보기   </a:t>
            </a:r>
            <a:pPr indent="0" marL="0">
              <a:buNone/>
            </a:pPr>
            <a:r>
              <a:rPr lang="en-US" sz="1350" dirty="0">
                <a:solidFill>
                  <a:srgbClr val="5C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금리가 4%라면 이자와 잔액은 얼마일까요? 0.03만 바꿔 다시 실행해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· 새 문법: 없음 — 배운 것의 조합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정산 리포트 완성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720840" cy="4389120"/>
          </a:xfrm>
          <a:prstGeom prst="roundRect">
            <a:avLst>
              <a:gd name="adj" fmla="val 1458"/>
            </a:avLst>
          </a:prstGeom>
          <a:solidFill>
            <a:srgbClr val="13293D"/>
          </a:solidFill>
          <a:ln w="9525">
            <a:solidFill>
              <a:srgbClr val="22405C"/>
            </a:solidFill>
            <a:prstDash val="solid"/>
          </a:ln>
          <a:effectLst>
            <a:outerShdw sx="100000" sy="100000" kx="0" ky="0" algn="bl" rotWithShape="0" blurRad="88900" dist="25400" dir="3600000">
              <a:srgbClr val="0A16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600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[11]: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837944"/>
            <a:ext cx="624535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print("=== 코드샵 정산 리포트 ===")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print("총 매출     :", revenue.sum(), "원")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print("평균 매출   :", revenue.mean(), "원")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print("최대/최소   :", revenue.max(), "/", revenue.min(), "원")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print("할인 후 매출:", discounted.sum(), "원")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print("총 수수료   :", fees.sum(), "원")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print("총 입금액   :", settlements.sum(), "원")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print("1년 뒤 잔액 :", np.round(cash + interest, 2), "원")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3813048"/>
            <a:ext cx="6245352" cy="0"/>
          </a:xfrm>
          <a:prstGeom prst="line">
            <a:avLst/>
          </a:prstGeom>
          <a:noFill/>
          <a:ln w="9525">
            <a:solidFill>
              <a:srgbClr val="2A4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886200"/>
            <a:ext cx="624535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코드샵 정산 리포트 ===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매출     : 489000 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매출   : 122250.0 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최대/최소   : 180000 / 75000 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할인 후 매출: 440100.0 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수수료   : 11002.5 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입금액   : 429097.5 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1년 뒤 잔액 : 441970.42 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1645920"/>
            <a:ext cx="4069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한 줄이 이미 배운 문법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집계 — 2단계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스칼라 곱·배열 뺄셈 — 0·3단계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자릿수 반올림 — 5단계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것은 아무것도 없습니다 — 조립만 했을 뿐.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0" y="452628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FDF3DD"/>
          </a:solidFill>
          <a:ln w="12700">
            <a:solidFill>
              <a:srgbClr val="C989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5262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A6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해보기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C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리포트에 4단계의 누적 총매출(total_revenue.sum()) 한 줄을 직접 추가해 보세요. 어디에 넣겠어요?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문법 정리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4297680"/>
                <a:gridCol w="3657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문법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단계에서 한 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배열 만들기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np.array([9000, 25000, ...])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가격 4개를 배열로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전체에 곱셈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prices * 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리스트(반복) vs 배열(곱셈)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배열끼리 곱셈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prices * quantities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상품별 매출 계산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.sum() .mean() .max() .min()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총·평균·최대·최소 요약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배열끼리 뺄셈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discounted - fees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수수료 차감 입금액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반올림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np.round(settlements)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 단위 (짝수 쪽 주의)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배열끼리 덧셈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quantities + last_month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달 누적 판매 수량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자릿수 반올림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40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np.round(interest, 2)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4C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이자처럼 작은 단위의 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80644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팁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노트북을 처음부터 다시 실행하면 이 표가 곧 복습 목차가 됩니다 — 각 단계에서 어떤 계산을 했는지 다시 따라가 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7B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질문 4가지 — 짝과 함께 2분씩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645920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 vs 배열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리스트에 2를 곱하는 것과 NumPy 배열에 2를 곱하는 것은 어떻게 다른가?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633472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0.9인가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 할인 가격을 prices * 0.9로 계산하는 이유는 무엇인가?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6674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621024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순서의 문제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prices와 quantities의 상품 순서가 다르면 어떤 문제가 생기는가?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608576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4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반올림의 함정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np.round(65812.5)의 결과는 무엇이고, 왜 그런가?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715000"/>
            <a:ext cx="12188952" cy="50292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9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4번 중 2번 이상 맞히면 통과 — 못 맞힌 질문은 다음 시간 처음에 다시 다룹니다.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컴퓨터코딩 · 핀테크 NumPy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갈 준비가 되었다면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 배울 세 가지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코드샵 지점이 3곳이라면?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0A20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계산을 한 번에 → 2차원 배열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55264"/>
            <a:ext cx="960120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4670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100,000원 넘는 상품만 보고 싶다면?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0A20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조건으로 골라내기 → 불리언 인덱싱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4224528"/>
            <a:ext cx="9601200" cy="0"/>
          </a:xfrm>
          <a:prstGeom prst="line">
            <a:avLst/>
          </a:prstGeom>
          <a:noFill/>
          <a:ln w="9525">
            <a:solidFill>
              <a:srgbClr val="1B3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159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데이터에서 3~5월만 뽑고 싶다면?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0A20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자르기 → 슬라이싱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8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실습 노트북을 처음부터 다시 실행해 보면 완벽한 복습이 됩니다 — 다음 시간에 계속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기초</dc:title>
  <dc:subject>PptxGenJS Presentation</dc:subject>
  <dc:creator>2026 컴퓨터코딩</dc:creator>
  <cp:lastModifiedBy>2026 컴퓨터코딩</cp:lastModifiedBy>
  <cp:revision>1</cp:revision>
  <dcterms:created xsi:type="dcterms:W3CDTF">2026-09-30T06:11:27Z</dcterms:created>
  <dcterms:modified xsi:type="dcterms:W3CDTF">2026-09-30T06:11:27Z</dcterms:modified>
</cp:coreProperties>
</file>