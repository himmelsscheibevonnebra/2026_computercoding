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6400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rgbClr val="163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데이터 분석 입문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판다스 Pandas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표(Series · DataFrame)로 다루는 데이터 — 나의 첫 주식 거래 일주일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2011680" cy="420624"/>
          </a:xfrm>
          <a:prstGeom prst="roundRect">
            <a:avLst>
              <a:gd name="adj" fmla="val 3260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703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6주차 / 15주차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3703320"/>
            <a:ext cx="2011680" cy="420624"/>
          </a:xfrm>
          <a:prstGeom prst="roundRect">
            <a:avLst>
              <a:gd name="adj" fmla="val 3260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71800" y="3703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실험·실습 · PBL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3703320"/>
            <a:ext cx="2148840" cy="420624"/>
          </a:xfrm>
          <a:prstGeom prst="roundRect">
            <a:avLst>
              <a:gd name="adj" fmla="val 3260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20640" y="37033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환경 · Google Colab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97764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28432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55864" y="4306824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pd.Series([10000, 10200, 9800])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s.mean()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55864" y="5257800"/>
            <a:ext cx="327355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55864" y="53309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10000.0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 1학기 · 강의자료 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오리엔테이션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학습 목표 — 표로 데이터 다루기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73352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673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9264" y="162763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표를 만든다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pd.Series · pd.DataFrame으로 종가·포트폴리오 표를 만들고 shape·head로 확인한다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80720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761488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② 데이터를 뽑는다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 선택 · iloc · 마스크로 조건에 맞는 행만 골라낸다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941064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941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3895344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③ 한 번에 계산한다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벡터 연산과 파생 컬럼으로 반복문 없이 표 전체를 계산한다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5074920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5074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" y="50292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④ 요약해 답한다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sort_values · describe · value_counts로 질문에 답하는 보고서를 만든다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863840" y="1554480"/>
            <a:ext cx="3867912" cy="4572000"/>
          </a:xfrm>
          <a:prstGeom prst="roundRect">
            <a:avLst>
              <a:gd name="adj" fmla="val 1891"/>
            </a:avLst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83880" y="17830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흐름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83880" y="2322576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18388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48472" y="2688336"/>
            <a:ext cx="0" cy="548640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68512" y="2249424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만들기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pd.Series · pd.DataFrame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83880" y="3255264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1838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48472" y="3621024"/>
            <a:ext cx="0" cy="548640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68512" y="3182112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뽑기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 선택 · iloc · 마스크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83880" y="4187952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83880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48472" y="4553712"/>
            <a:ext cx="0" cy="548640"/>
          </a:xfrm>
          <a:prstGeom prst="line">
            <a:avLst/>
          </a:prstGeom>
          <a:noFill/>
          <a:ln w="15875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68512" y="411480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계산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벡터 연산 · 파생 컬럼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83880" y="5120640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183880" y="5120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68512" y="5047488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정렬 · 통계 · 세기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 · 왜 판다스인가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배열에서 표로 — 데이터에 이름이 붙는다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넘파이 배열 — 위치의 세계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a[2, 0]처럼 '몇 번째'인지로만 데이터에 접근한다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 데이터 — 이름의 세계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종목은 CODE, 요일은 '화', 항목은 '종가'로 말한다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표에는 자료형이 섞인다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종목코드(문자)와 종가(숫자)가 한 표에 함께 있어야 한다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2002536"/>
          </a:xfrm>
          <a:prstGeom prst="roundRect">
            <a:avLst>
              <a:gd name="adj" fmla="val 274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 = pd.Series([10000, 10200, 9800],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index=["월", "화", "수"])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closes["화"]          # 이름으로 바로 읽기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305409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312724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3877056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74920" y="38770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877056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0" y="38770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넘파이 ndarray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49640" y="3877056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49640" y="3877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판다스 DataFrame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4288536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74920" y="42885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수학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4288536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83680" y="42885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49640" y="4288536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49640" y="4288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가능 — 배열이 안에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4700016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74920" y="4700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섞인 자료형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4700016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83680" y="47000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가지 dtype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49640" y="4700016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549640" y="4700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열마다 자료형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5111496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74920" y="51114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 이름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5111496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583680" y="5111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0, 1, 2 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49640" y="5111496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9640" y="5111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원하는 라벨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561441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판다스 = 넘파이의 연산 + 이름 붙은 행·열 — 지난 주 감각이 그대로 이어집니다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 · 판다스의 위치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 분석의 업계 표준 — 생태계의 한가운데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7223760" cy="1417320"/>
          </a:xfrm>
          <a:prstGeom prst="roundRect">
            <a:avLst>
              <a:gd name="adj" fmla="val 5161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92024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판다스 pandas — 오늘 · 6주차</a:t>
            </a:r>
            <a:endParaRPr lang="en-US" sz="19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행·열 이름이 붙은 표(Series · DataFrame)를 만들고, 뽑고, 계산하고, 요약한다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 flipV="1">
            <a:off x="7680960" y="2148840"/>
            <a:ext cx="457200" cy="182880"/>
          </a:xfrm>
          <a:prstGeom prst="line">
            <a:avLst/>
          </a:prstGeom>
          <a:noFill/>
          <a:ln w="19050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680960" y="2468880"/>
            <a:ext cx="457200" cy="1143000"/>
          </a:xfrm>
          <a:prstGeom prst="line">
            <a:avLst/>
          </a:prstGeom>
          <a:noFill/>
          <a:ln w="19050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138160" y="1554480"/>
            <a:ext cx="3593592" cy="1188720"/>
          </a:xfrm>
          <a:prstGeom prst="roundRect">
            <a:avLst>
              <a:gd name="adj" fmla="val 6154"/>
            </a:avLst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12480" y="1783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맷플롯립 matplotlib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7주차 — 그래프 그리기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3017520"/>
            <a:ext cx="3593592" cy="1188720"/>
          </a:xfrm>
          <a:prstGeom prst="roundRect">
            <a:avLst>
              <a:gd name="adj" fmla="val 6154"/>
            </a:avLst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0" y="3246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사이킷런 scikit-learn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11–14주차 — 머신러닝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69080" y="3108960"/>
            <a:ext cx="0" cy="566928"/>
          </a:xfrm>
          <a:prstGeom prst="line">
            <a:avLst/>
          </a:prstGeom>
          <a:noFill/>
          <a:ln w="19050">
            <a:solidFill>
              <a:srgbClr val="C9DAE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3675888"/>
            <a:ext cx="7223760" cy="1005840"/>
          </a:xfrm>
          <a:prstGeom prst="roundRect">
            <a:avLst>
              <a:gd name="adj" fmla="val 7273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85876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A537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NumPy ndarray — 지난 주 · 5주차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이름 없는 숫자 배열 + 벡터화 연산 — 판다스 표의 값은 이 배열로 들어 있다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 지금?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엑셀·CSV·데이터베이스 — 실무 데이터는 대부분 '표' 모양입니다. 이 수업의 분석·머신러닝 주차가 전부 판다스 표 위에서 출발합니다.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준비 · 실습 환경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실습은 Google Colab에서 — 설치 없이 바로 시작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73352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673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9264" y="16276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접속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colab.research.google.com — 구글 계정으로 로그인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807208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7614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새 노트 만들기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파일 → 새 노트, 이름은 '6주차_판다스 실습'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941064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941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389534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입력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슬라이드의 코드를 한 줄씩 타이핑하거나 붙여넣기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5074920"/>
            <a:ext cx="329184" cy="329184"/>
          </a:xfrm>
          <a:prstGeom prst="ellipse">
            <a:avLst/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5074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" y="5029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</a:t>
            </a:r>
            <a:endParaRPr lang="en-US" sz="17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셀 안을 클릭하고 Shift + Enter (또는 ▶ 버튼)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1554480"/>
            <a:ext cx="6629400" cy="1453896"/>
          </a:xfrm>
          <a:prstGeom prst="roundRect">
            <a:avLst>
              <a:gd name="adj" fmla="val 3774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[3]: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12664" y="1883664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   # 별명 pd — np와 같은 관례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pd.__version__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12664" y="250545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12664" y="257860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'2.3.3'      # Colab에는 이미 설치되어 있음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3282696"/>
            <a:ext cx="6629400" cy="2103120"/>
          </a:xfrm>
          <a:prstGeom prst="roundRect">
            <a:avLst>
              <a:gd name="adj" fmla="val 3478"/>
            </a:avLst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49240" y="3483864"/>
            <a:ext cx="6080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네 가지만 기억하세요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import pandas as pd — 거의 모든 예제가 pd 로 시작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② 표 = DataFrame, 한 줄 = Series — 오늘의 두 주인공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③ 넘파이(np)도 함께 쓸 때가 많습니다 — 지난 주 노트 참고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④ 실습 노트북 '6주차_판다스 실습'이 오늘의 전부입니다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 · 오늘의 이야기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나의 첫 주식 거래 일주일 — 월요일에 사고, 금요일에 복기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월요일 아침 — 첫 매수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CODE 10주를 주당 10,000원에 샀다 — 드디어 주주다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금요일 저녁 — 일주일 복기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평균은? 최고의 날은? 이긴 종목은? 데이터로 답한다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 쓸 데이터 세 가지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주간 종가(Series) · 포트폴리오(DataFrame) · 매매 일지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155448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CODE 주간 종가 (원) — 1막의 주인공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196596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74920" y="19659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74920" y="2496312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74920" y="2496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196596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46520" y="19659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2496312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46520" y="2496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18120" y="196596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818120" y="19659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18120" y="2496312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18120" y="2496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89720" y="196596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89720" y="19659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89720" y="2496312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89720" y="2496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10500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561320" y="1965960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561320" y="19659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561320" y="2496312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561320" y="2496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3154680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매수가 10,000원 — 화·목·금은 이겼고, 수요일은 졌다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370332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3막 구조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40690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74920" y="4069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4050792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종목의 일주일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Series · 인덱스 · 벡터 연산 · 마스크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74920" y="4818888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74920" y="48188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2막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72200" y="4800600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포트폴리오의 현재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DataFrame · 선택 · 파생 컬럼 · 필터링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74920" y="5568696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74920" y="55686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3막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72200" y="5550408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매매 일지 집계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sort_values · describe · value_counts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 · Series 만들기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줄 데이터 — pd.Series( 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pd.Series(리스트)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줄짜리 데이터 — CODE의 주간 종가를 담는다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왼쪽이 인덱스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값을 따로 정하지 않으면 위치 번호 0, 1, 2, 3,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.values는 넘파이 배열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지난 주의 ndarray가 값의 실체로 들어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3374136"/>
          </a:xfrm>
          <a:prstGeom prst="roundRect">
            <a:avLst>
              <a:gd name="adj" fmla="val 1626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[4]: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 = pd.Series([10000, 10200, 9800,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10500, 10800])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305409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3127248"/>
            <a:ext cx="61539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0    10000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1    10200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2     9800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3    10500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4    10800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dtype: int64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5138928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왼쪽 열 = 인덱스(행 이름), 오른쪽 = 값 — 아래 dtype은 값의 자료형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Series의 두 요소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5029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인덱스 (행 이름)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50292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743200" y="5029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37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 (데이터)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6144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쌍으로 묶여 함께 다닌다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 · Series 만들기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인덱스 — 행에 이름 붙이기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index= 로 라벨 붙이기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요일을 붙이면 '화요일 종가'처럼 사람처럼 읽힌다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라벨로 읽기 — [ ] 와 .loc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closes['화'] · closes.loc['금'] — 이름으로 접근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라벨 슬라이스는 끝 포함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loc['화':'목'] → 화·수·목 (위치 슬라이스와 다르다!)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2002536"/>
          </a:xfrm>
          <a:prstGeom prst="roundRect">
            <a:avLst>
              <a:gd name="adj" fmla="val 274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[5]: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 = pd.Series([10000, 10200, 9800, 10500,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10800],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index=["월", "화", "수", "목", "금"])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closes["화"], closes.loc["금"]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305409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312724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(10200, 10800)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3721608"/>
            <a:ext cx="6629400" cy="2002536"/>
          </a:xfrm>
          <a:prstGeom prst="roundRect">
            <a:avLst>
              <a:gd name="adj" fmla="val 274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85232" y="3813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[6]: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12664" y="405079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closes.loc["화":"목"]   # 라벨 슬라이스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12664" y="4398264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12664" y="4471416"/>
            <a:ext cx="6153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화    10200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     9800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    10500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dtype: int64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closes — 요일이 인덱스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31536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5431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44168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344168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44168" y="5431536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44168" y="5431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31136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231136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31136" y="5431536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231136" y="5431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18104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118104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18104" y="5431536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18104" y="5431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05072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005072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05072" y="5431536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005072" y="5431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 · Series 만들기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반복문 없이 한 번에 — 벡터 연산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closes - 10000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10,000원에 샀으니 결과는 하루하루의 손익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집계도 열 전체에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mean · max · sum 이 한 번에 — 넘파이와 동일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True의 합은 개수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(closes &gt; 10000).sum() → 이긴 날의 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1453896"/>
          </a:xfrm>
          <a:prstGeom prst="roundRect">
            <a:avLst>
              <a:gd name="adj" fmla="val 3774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[7]: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 = closes - 10000     # 산 가격과의 차이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gain.tolist()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50545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57860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200, -200, 500, 800]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3172968"/>
            <a:ext cx="6629400" cy="1179576"/>
          </a:xfrm>
          <a:prstGeom prst="roundRect">
            <a:avLst>
              <a:gd name="adj" fmla="val 4651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85232" y="3264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[8]: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12664" y="350215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closes.mean(), closes.max(), (closes &gt; 10000).sum()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12664" y="3849624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12664" y="3922776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(10260.0, 10800, 3)   # 평균 · 최고 · 이긴 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gain — 하루하루의 손익 (원)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31536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5431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44168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344168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44168" y="5431536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344168" y="5431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31136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231136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31136" y="5431536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231136" y="5431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18104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118104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18104" y="5431536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18104" y="5431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05072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005072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05072" y="5431536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005072" y="5431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 · Series 만들기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조건에 맞는 날만 — 불리언 마스크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 → True/False 나열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mask.tolist() → [F, T, F, T, T] — 날마다 판정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마스크를 대괄호에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closes[mask] — True인 날(화·목·금)만 남는다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조합은 &amp; · | 와 괄호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(closes &gt; 10000) &amp; (closes &lt; 10600) — 넘파이와 동일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1453896"/>
          </a:xfrm>
          <a:prstGeom prst="roundRect">
            <a:avLst>
              <a:gd name="adj" fmla="val 3774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[9]: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closes &gt; 10000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closes[mask].tolist()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50545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57860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[10200, 10500, 10800]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3172968"/>
            <a:ext cx="6629400" cy="1179576"/>
          </a:xfrm>
          <a:prstGeom prst="roundRect">
            <a:avLst>
              <a:gd name="adj" fmla="val 4651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85232" y="3264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[10]: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12664" y="350215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closes[mask].mean()      # 이긴 날들의 평균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12664" y="3849624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12664" y="3922776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10500.0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mask 가 True인 날만 남는다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 10000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44168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44168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화 10200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31136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231136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 9800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18104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118104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 10500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05072" y="5029200"/>
            <a:ext cx="804672" cy="365760"/>
          </a:xfrm>
          <a:prstGeom prst="roundRect">
            <a:avLst>
              <a:gd name="adj" fmla="val 12500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005072" y="5029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금 10800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55321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파란 칸 = True — 살 때보다 비싸게 끝난 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 · DataFrame 만들기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딕셔너리로 표 만들기 — pd.DataFrame( 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{열 이름: 리스트}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딕셔너리의 키가 열 이름, 리스트가 그 열의 값들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열은 하나의 Series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모든 열이 같은 인덱스(0, 1, 2)를 공유한다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모든 길이가 같아야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리스트끼리 길이가 다르면 ValueError가 난다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2551176"/>
          </a:xfrm>
          <a:prstGeom prst="roundRect">
            <a:avLst>
              <a:gd name="adj" fmla="val 2151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[11]: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= pd.DataFrame({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"ticker": ["CODE", "TEA", "ROBO"],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"shares": [10, 40, 5],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"buy":    [10000, 5000, 40000],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"close":  [10800, 4800, 45000]})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portfolio.shape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360273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367588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433425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금요일 저녁, 내 포트폴리오 — 3행 × 4열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4920" y="4654296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74920" y="4654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4654296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09360" y="4654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4654296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43800" y="4654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4654296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778240" y="4654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508406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74920" y="5084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508406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9360" y="5084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43800" y="508406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43800" y="5084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8240" y="508406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778240" y="5084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74920" y="5513832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74920" y="5513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5513832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09360" y="5513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43800" y="5513832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543800" y="5513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78240" y="5513832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778240" y="5513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74920" y="594360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074920" y="5943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594360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309360" y="5943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43800" y="594360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543800" y="5943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778240" y="594360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778240" y="5943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 · DataFrame 만들기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거래 하나가 행 하나 — 레코드의 리스트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딕셔너리 하나 = 행 하나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거래 기록처럼 레코드가 모이는 데이터에 어울린다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키가 열 이름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레코드들이 공유하는 키로 열이 만들어진다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방식, 같은 결과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열의 묶음으로 시작해도 행의 묶음으로 시작해도 같은 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2551176"/>
          </a:xfrm>
          <a:prstGeom prst="roundRect">
            <a:avLst>
              <a:gd name="adj" fmla="val 2151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[12]: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trades = [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{"ticker": "CODE", "action": "buy", "shares": 10},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{"ticker": "TEA",  "action": "buy", "shares": 20},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= pd.DataFrame(trades)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log.shape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360273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367588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(2, 3)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433425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매매 일지의 첫 두 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4920" y="4654296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74920" y="4654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4654296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09360" y="4654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4654296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43800" y="4654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508406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74920" y="5084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508406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09360" y="5084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43800" y="5084064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43800" y="5084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5513832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74920" y="5513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5513832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09360" y="5513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43800" y="5513832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543800" y="5513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 · DataFrame 만들기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 둘러보기 — shape · head · columns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shape — (행, 열)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(3, 4)면 3행 4열 — 눈으로 세지 않는다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head(n) · tail(n)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처음·마지막 n행만 미리보기 — 큰 표의 첫인사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columns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 이름 목록 — 디버깅의 첫 단추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1728216"/>
          </a:xfrm>
          <a:prstGeom prst="roundRect">
            <a:avLst>
              <a:gd name="adj" fmla="val 3175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[13]: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print(portfolio.shape)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portfolio.columns.tolist()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50545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578608"/>
            <a:ext cx="6153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(3, 4)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['ticker', 'shares', 'buy', 'close']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3447288"/>
            <a:ext cx="6629400" cy="1728216"/>
          </a:xfrm>
          <a:prstGeom prst="roundRect">
            <a:avLst>
              <a:gd name="adj" fmla="val 3175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85232" y="35387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[14]: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12664" y="377647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portfolio.head(2)        # 처음 두 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12664" y="4123944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12664" y="4197096"/>
            <a:ext cx="6153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ticker  shares    buy  close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CODE       10  10000  10800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TEA       40   5000   4800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 · 표에서 뽑아 계산하기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 선택 — 한 개는 Series, 여러 개는 DataFrame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개 — Series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portfolio['close'] — 대괄호 한 쌍에 문자열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여러 개 — DataFrame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[['ticker', 'close']] — 이름의 리스트를 넣는다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순서도 내 맘대로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리스트에 적은 순서가 새 표의 열 순서가 된다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1453896"/>
          </a:xfrm>
          <a:prstGeom prst="roundRect">
            <a:avLst>
              <a:gd name="adj" fmla="val 3774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[15]: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= portfolio["close"]     # Series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close.tolist()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50545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57860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[10800, 4800, 45000]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3172968"/>
            <a:ext cx="6629400" cy="1179576"/>
          </a:xfrm>
          <a:prstGeom prst="roundRect">
            <a:avLst>
              <a:gd name="adj" fmla="val 4651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85232" y="3264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[16]: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12664" y="350215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portfolio[["ticker", "close"]].shape   # DataFrame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12664" y="3849624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12664" y="3922776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(3, 2)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portfolio['close'] — close 열 하나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53896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53896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50592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450592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7288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447288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53896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453896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50592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450592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47288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47288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453896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453896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50592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450592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47288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447288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57200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453896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453896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50592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450592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47288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447288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 · 표에서 뽑아 계산하기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 선택 — iloc 위치로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iloc — 위치로 고른다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iloc[0] 첫 행, iloc[-1] 마지막 행 (0부터 센다)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슬라이스는 끝 제외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iloc[0:2] → 행 0, 1 — 넘파이 규칙과 같다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행을 뽑으면 Series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 이름이 인덱스가 되어 한 줄로 나온다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1179576"/>
          </a:xfrm>
          <a:prstGeom prst="roundRect">
            <a:avLst>
              <a:gd name="adj" fmla="val 4651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[17]: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portfolio.iloc[0:2].shape, portfolio.iloc[-1]["ticker"]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23113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30428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((2, 4), 'ROBO')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2898648"/>
            <a:ext cx="6629400" cy="2276856"/>
          </a:xfrm>
          <a:prstGeom prst="roundRect">
            <a:avLst>
              <a:gd name="adj" fmla="val 241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85232" y="2990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[18]: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12664" y="322783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portfolio.iloc[0]       # 첫 번째 행 — CODE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12664" y="3575304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12664" y="3648456"/>
            <a:ext cx="6153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    CODE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      10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     10000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   10800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0, dtype: object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portfolio.iloc[0] — 첫 번째 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53896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53896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50592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450592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7288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447288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53896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453896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50592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450592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47288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47288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453896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453896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50592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450592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47288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447288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57200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453896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453896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50592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450592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47288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447288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 · 표에서 뽑아 계산하기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계산 결과를 새 열로 — 파생 컬럼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대입하면 새 열이 생긴다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df['열 이름'] = 계산식 — 표에 열이 추가된다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invested · profit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투자금 = 보유량×매수가, 손익 = (종가−매수가)×보유량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원본 표가 바뀐다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정렬과 달리 새 표가 아니라 그 표에 늘어난다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2276856"/>
          </a:xfrm>
          <a:prstGeom prst="roundRect">
            <a:avLst>
              <a:gd name="adj" fmla="val 241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[19]: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 = portfolio["shares"]; bp = portfolio["buy"]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 = portfolio["close"]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portfolio["invested"] = sh * bp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portfolio["profit"] = (cl - bp) * sh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portfolio["profit"].tolist()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332841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340156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[8000, -8000, 25000]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TEA는 8,000원 손실 — profit이 음수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95604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49560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16736" y="495604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16736" y="49560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76272" y="495604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76272" y="49560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35808" y="495604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35808" y="49560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95344" y="495604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95344" y="49560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32180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53218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16736" y="532180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316736" y="53218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76272" y="532180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176272" y="53218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35808" y="532180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035808" y="53218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95344" y="532180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895344" y="53218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68756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7200" y="5687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316736" y="568756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316736" y="5687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76272" y="568756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176272" y="5687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35808" y="568756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035808" y="5687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95344" y="568756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895344" y="5687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053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6053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316736" y="6053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316736" y="6053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176272" y="6053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176272" y="6053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35808" y="6053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035808" y="6053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895344" y="6053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895344" y="6053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25000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 · 표에서 뽑아 계산하기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조건에 맞는 행만 남기기 — 필터링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열의 조건 → 행의 마스크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close &gt; buy 를 만족하는 행만 남는다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결과를 새 변수에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winners = portfolio[win] — 원본은 그대로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조합은 괄호 + &amp; · |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(profit &gt; 0) &amp; (shares &gt;= 10) 처럼 묶어서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1728216"/>
          </a:xfrm>
          <a:prstGeom prst="roundRect">
            <a:avLst>
              <a:gd name="adj" fmla="val 3175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[20]: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= portfolio["close"] &gt; portfolio["buy"]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winners = portfolio[win]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winners["ticker"].tolist(), winners.shape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77977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85292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(['CODE', 'ROBO'], (2, 4))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종가가 매수가보다 높은 행 — CODE와 ROBO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53896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53896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50592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450592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47288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47288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53896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453896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50592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450592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47288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447288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53896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453896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50592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450592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47288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447288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453896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453896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50592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450592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47288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447288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 · 요약해서 답 찾기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줄 세우기 — sort_values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기준 열을 정한다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sort_values('close') — 종가를 기준으로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ascending=False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큰 것부터 — 랭킹을 만드는 옵션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 전체가 함께 이동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값만 움직이는 게 아니라 행이 통째로 자리 바꿈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1728216"/>
          </a:xfrm>
          <a:prstGeom prst="roundRect">
            <a:avLst>
              <a:gd name="adj" fmla="val 3175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[21]: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= portfolio.sort_values("close",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ascending=False)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ranked["ticker"].tolist()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77977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85292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['ROBO', 'CODE', 'TEA']   # 종가 높은 순서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ranked — 종가가 높은 순서 (원본은 그대로)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53896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53896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50592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450592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47288" y="49560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47288" y="4956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53896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453896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50592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450592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47288" y="532180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406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447288" y="532180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53896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453896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50592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450592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47288" y="56875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447288" y="5687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453896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453896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50592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450592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47288" y="60533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447288" y="6053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 · 요약해서 답 찾기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열의 모든 통계 — describe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여덟 개를 한 번에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count·mean·std·min·사분위·max 를 한 번에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하나만 필요하면 따로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c.max() · round(c.mean(), 1) — 보기 좋게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숫자 열에 먼저 찍어본다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새 표를 받으면 describe()부터 — 분석의 첫걸음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1453896"/>
          </a:xfrm>
          <a:prstGeom prst="roundRect">
            <a:avLst>
              <a:gd name="adj" fmla="val 3774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[22]: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portfolio["close"]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c.max(), round(c.mean(), 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50545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57860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(45000, 20200.0)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3172968"/>
            <a:ext cx="6629400" cy="3191256"/>
          </a:xfrm>
          <a:prstGeom prst="roundRect">
            <a:avLst>
              <a:gd name="adj" fmla="val 1719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85232" y="3264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[23]: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12664" y="3502152"/>
            <a:ext cx="6153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c.describe()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12664" y="383133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12664" y="3904488"/>
            <a:ext cx="615391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       3.000000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    20200.000000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     21685.940146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     4800.000000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       7800.000000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      10800.000000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      27900.000000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    45000.000000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close, dtype: float64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 · 요약해서 답 찾기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최고는 언제? — idxmax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 vs 라벨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max()는 최고 값, idxmax()는 그 값의 라벨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argsort와 비교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넘파이는 위치 번호, 판다스는 이름을 돌려준다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질문에 바로 답한다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'언제 가장 높았나?' → 금 — 보고서 한 줄 완성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1179576"/>
          </a:xfrm>
          <a:prstGeom prst="roundRect">
            <a:avLst>
              <a:gd name="adj" fmla="val 4651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[24]: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closes.idxmax(), closes.max()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23113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304288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('금', 10800)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2898648"/>
            <a:ext cx="6629400" cy="1179576"/>
          </a:xfrm>
          <a:prstGeom prst="roundRect">
            <a:avLst>
              <a:gd name="adj" fmla="val 4651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85232" y="2990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[25]: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12664" y="3227832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closes[closes.idxmax()]   # 그 날의 종가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12664" y="3575304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12664" y="3648456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최고의 날 = 금 (10,800원)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804672" cy="402336"/>
          </a:xfrm>
          <a:prstGeom prst="roundRect">
            <a:avLst>
              <a:gd name="adj" fmla="val 11364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502920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 10000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44168" y="5029200"/>
            <a:ext cx="804672" cy="402336"/>
          </a:xfrm>
          <a:prstGeom prst="roundRect">
            <a:avLst>
              <a:gd name="adj" fmla="val 11364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44168" y="502920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화 10200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31136" y="5029200"/>
            <a:ext cx="804672" cy="402336"/>
          </a:xfrm>
          <a:prstGeom prst="roundRect">
            <a:avLst>
              <a:gd name="adj" fmla="val 11364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231136" y="502920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 9800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18104" y="5029200"/>
            <a:ext cx="804672" cy="402336"/>
          </a:xfrm>
          <a:prstGeom prst="roundRect">
            <a:avLst>
              <a:gd name="adj" fmla="val 11364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118104" y="502920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5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 10500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05072" y="5029200"/>
            <a:ext cx="804672" cy="402336"/>
          </a:xfrm>
          <a:prstGeom prst="roundRect">
            <a:avLst>
              <a:gd name="adj" fmla="val 11364"/>
            </a:avLst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005072" y="502920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금 10800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55595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노란 칸 = idxmax() 가 가리킨 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 · 요약해서 답 찾기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 세기 — value_counts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값이 몇 번 나오나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세어서 많은 것부터 나열 — 순위가 곧 개수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문자열 열에도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매매 일지의 buy/sell 횟수처럼 범주를 집계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돌려받는 것도 Series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인덱스가 값 자체, 값이 개수 — 그대로 재활용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2276856"/>
          </a:xfrm>
          <a:prstGeom prst="roundRect">
            <a:avLst>
              <a:gd name="adj" fmla="val 241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[26]: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 = pd.Series(["buy", "sell", "buy", "buy",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"sell", "buy"])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actions.value_counts()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77977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852928"/>
            <a:ext cx="6153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    4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   2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count, dtype: int64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매수가 매도의 두 배 — 이번 주 거래 습관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5029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buy (매수)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559552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55595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97480" y="50292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17365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97480" y="5029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sell (매도)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97480" y="5559552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697480" y="55595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537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A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마무리 · 따라 하기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3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나의 첫 주식 거래 일주일 — 오늘 배운 것 전부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1막 — CODE 주간 종가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Series·인덱스·벡터 연산으로 한 주를 복기한다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2막 — 금요일 포트폴리오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파생 컬럼·정렬·필터링으로 수익을 확인한다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406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3막 — 매매 일지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3D4C5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value_counts로 매수·매도를 집계한다 (노트북 16절)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554480"/>
            <a:ext cx="6629400" cy="1728216"/>
          </a:xfrm>
          <a:prstGeom prst="roundRect">
            <a:avLst>
              <a:gd name="adj" fmla="val 3175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85232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[27]: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12664" y="1883664"/>
            <a:ext cx="6153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print("하루 손익:", (closes - 10000).tolist())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print("평균:", closes.mean(), "최고:", closes.idxmax())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12664" y="2505456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12664" y="2578608"/>
            <a:ext cx="6153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하루 손익: [0, 200, -200, 500, 800]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평균: 10260.0 최고: 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3447288"/>
            <a:ext cx="6629400" cy="2825496"/>
          </a:xfrm>
          <a:prstGeom prst="roundRect">
            <a:avLst>
              <a:gd name="adj" fmla="val 1942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85232" y="35387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9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[28]: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12664" y="3776472"/>
            <a:ext cx="6153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 = portfolio["shares"]; bp = portfolio["buy"]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 = portfolio["close"]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portfolio["profit"] = (cl - bp) * sh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portfolio.sort_values("profit", ascending=False)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12664" y="4946904"/>
            <a:ext cx="6153912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12664" y="5020056"/>
            <a:ext cx="6153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ticker  profit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ROBO   25000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CODE    8000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C6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TEA   -8000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E7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핵심 다섯 가지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8013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17830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Series는 '이름 붙은 한 열'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인덱스가 행 라벨 — .values는 넘파이 배열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17320" y="2551176"/>
            <a:ext cx="9784080" cy="0"/>
          </a:xfrm>
          <a:prstGeom prst="line">
            <a:avLst/>
          </a:prstGeom>
          <a:noFill/>
          <a:ln w="12700">
            <a:solidFill>
              <a:srgbClr val="1B3C5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26426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262432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만들기: pd.Series · pd.DataFrame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딕셔너리(열 중심) 또는 레코드(행 중심) 리스트, 길이는 같게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3392424"/>
            <a:ext cx="9784080" cy="0"/>
          </a:xfrm>
          <a:prstGeom prst="line">
            <a:avLst/>
          </a:prstGeom>
          <a:noFill/>
          <a:ln w="12700">
            <a:solidFill>
              <a:srgbClr val="1B3C5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348386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346557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선택: df['열'] · [[]] · iloc · loc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쌍은 Series, 리스트는 DataFrame — 괄호 수를 주의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17320" y="4233672"/>
            <a:ext cx="9784080" cy="0"/>
          </a:xfrm>
          <a:prstGeom prst="line">
            <a:avLst/>
          </a:prstGeom>
          <a:noFill/>
          <a:ln w="12700">
            <a:solidFill>
              <a:srgbClr val="1B3C5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43251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30682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계산: 벡터 연산 + 파생 컬럼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대입 한 줄로 열 전체가 계산된다 — 반복문 없음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17320" y="5074920"/>
            <a:ext cx="9784080" cy="0"/>
          </a:xfrm>
          <a:prstGeom prst="line">
            <a:avLst/>
          </a:prstGeom>
          <a:noFill/>
          <a:ln w="12700">
            <a:solidFill>
              <a:srgbClr val="1B3C5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51663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17320" y="514807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요약: 정렬 · 통계 · 세기 · 필터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sort_values · describe · idxmax · value_counts · 마스크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6035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노트북의 '종합 예제'를 처음부터 다시 실행해 보면 오늘 내용이 정리됩니다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주 예고 · 7주차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3898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맷플롯립(Matplotlib) — 데이터를 그래프로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 계산한 종가와 수익을 선 그래프·막대 그래프로 그려 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3840480"/>
            <a:ext cx="0" cy="1417320"/>
          </a:xfrm>
          <a:prstGeom prst="line">
            <a:avLst/>
          </a:prstGeom>
          <a:noFill/>
          <a:ln w="19050">
            <a:solidFill>
              <a:srgbClr val="1B3C5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88720" y="5257800"/>
            <a:ext cx="5120640" cy="0"/>
          </a:xfrm>
          <a:prstGeom prst="line">
            <a:avLst/>
          </a:prstGeom>
          <a:noFill/>
          <a:ln w="19050">
            <a:solidFill>
              <a:srgbClr val="1B3C59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25880" y="4807131"/>
            <a:ext cx="4983480" cy="0"/>
          </a:xfrm>
          <a:prstGeom prst="line">
            <a:avLst/>
          </a:prstGeom>
          <a:noFill/>
          <a:ln w="12700">
            <a:solidFill>
              <a:srgbClr val="1B3C59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92040" y="4532811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매수가 10,000원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V="1">
            <a:off x="1600200" y="4650377"/>
            <a:ext cx="1051560" cy="156754"/>
          </a:xfrm>
          <a:prstGeom prst="line">
            <a:avLst/>
          </a:prstGeom>
          <a:noFill/>
          <a:ln w="28575">
            <a:solidFill>
              <a:srgbClr val="A9C6D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651760" y="4650377"/>
            <a:ext cx="1051560" cy="313509"/>
          </a:xfrm>
          <a:prstGeom prst="line">
            <a:avLst/>
          </a:prstGeom>
          <a:noFill/>
          <a:ln w="28575">
            <a:solidFill>
              <a:srgbClr val="A9C6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flipV="1">
            <a:off x="3703320" y="4415246"/>
            <a:ext cx="1051560" cy="548640"/>
          </a:xfrm>
          <a:prstGeom prst="line">
            <a:avLst/>
          </a:prstGeom>
          <a:noFill/>
          <a:ln w="28575">
            <a:solidFill>
              <a:srgbClr val="A9C6D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flipV="1">
            <a:off x="4754880" y="4180114"/>
            <a:ext cx="1051560" cy="235131"/>
          </a:xfrm>
          <a:prstGeom prst="line">
            <a:avLst/>
          </a:prstGeom>
          <a:noFill/>
          <a:ln w="28575">
            <a:solidFill>
              <a:srgbClr val="A9C6D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554480" y="4761411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606040" y="4604657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0" y="4918166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709160" y="4369526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760720" y="4134394"/>
            <a:ext cx="91440" cy="91440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17320" y="5312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5312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5312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5312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5312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5760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CODE 주간 종가 — 다음 주에는 이 데이터가 plt.plot( ) 한 줄로 그래프가 됩니다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017520"/>
            <a:ext cx="3593592" cy="1554480"/>
          </a:xfrm>
          <a:prstGeom prst="roundRect">
            <a:avLst>
              <a:gd name="adj" fmla="val 4706"/>
            </a:avLst>
          </a:prstGeom>
          <a:solidFill>
            <a:srgbClr val="F0A20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12480" y="321868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A4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준비물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3293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오늘 실습 노트북 끝까지 완주하기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3293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② closes 숫자를 본인 것으로 바꿔 다시 실행해 보기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38160" y="4800600"/>
            <a:ext cx="3593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8E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팁 — 오늘 만든 portfolio 는 다음 주 그래프의 재료입니다. 노트를 잘 보관하세요!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 컴퓨터코딩 · 6주차 판다스(Pandas)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28832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나눔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나눔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컴퓨터코딩 · 6주차 판다스(Pandas)</dc:title>
  <dc:subject>데이터 분석 입문</dc:subject>
  <dc:creator>MinGi KYUNG</dc:creator>
  <cp:lastModifiedBy>MinGi KYUNG</cp:lastModifiedBy>
  <cp:revision>1</cp:revision>
  <dcterms:created xsi:type="dcterms:W3CDTF">2026-10-01T22:44:03Z</dcterms:created>
  <dcterms:modified xsi:type="dcterms:W3CDTF">2026-10-01T22:44:03Z</dcterms:modified>
</cp:coreProperties>
</file>