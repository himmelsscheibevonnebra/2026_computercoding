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week05 커리큘럼(만들기-선택-계산-변형)을 코드샵 매출 데이터로 진행하는 버전. 기초(배열 만들기·연산)부터 확장(불리언·2차원·axis·정렬·where)까지 하나의 데이터로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 흐름은 week05와 동일한 구조. 모든 예제가 하나의 데이터(코드샵: 가격·수량·지점별 매출·월별 매출)로 이어짐을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금융 서비스는 결제·시세 데이터가 수백만 건 — 느린 코드는 곧 서비스 지연. '빠르다'보다 '반복문 없이 쓴다'가 오늘의 핵심 문법.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 계획 연결: 오늘의 배열 감각이 이후 모든 주차의 기반. 금융 데이터 분석 파이프라인도 같은 스택.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전원 Colab 접속 확인 후 첫 셀 함께 실행. 오늘 내내 이 prices 배열로 놀아보게 된다고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코드샵 데이터 첫 등장: 상품 4종 가격, 지점별 매출. 셀 마지막 줄 변수명만 쓰면 repr 출력. 노트북과 같은 순서로 따라 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금융 용례 중심으로 설명 바꿈: zeros는 결과 그릇, full은 상품별 이율, linspace는 금리 시나리오. arange 끝 미포함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randn으로 '일일 수익률'을 만들어 보는 것이 핀테크다운 활용. seed(42)를 고정하면 슬라이드와 같은 값이 나옴을 함께 실행해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3지점×4상품 매출 표가 (3,4). 실무 데이터는 더 많은 방향을 가지며 shape 확인이 출발점임을 강조. 12월에 배울 데이터도 결국 같은 질문에서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매출액은 int64, 평균·수익률은 float64. 엑셀에서 숫자가 문자로 저장되는 사고와 같은 맥락 — 분석 전 dtype 확인이 버그 예방.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규칙은 리스트와 동일(0부터, 끝 미포함). 새로운 것은 뷰 — b를 바꾸면 prices가 바뀌는 것을 Colab에서 직접 실행해서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콤마 앞=행(지점), 뒤=열(상품). sales[1,2]=춘천 스티커 팩처럼 의미를 붙여 읽게 한다. ':' 전체 선택을 격자와 대응.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'매출 10만 원 이상 상품만 골라내기' — 실무에서 가장 자주 쓰는 선택. 마스크를 먼저 만들고 대괄호에 넣는 2단계로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팬시 인덱싱의 진짜 용도는 argsort와의 조합(3장 뒤). 여기선 리스트를 인덱스로 쓴다는 점과 결과가 복사라는 점만.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기초 수업에서 본 리스트*2 반복 함정을 다시 확인하고 배열의 원소별 계산과 대비. 매출 계산(prices*quantities)이 벡터화였다는 회고가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10% 할인(prices*0.9)은 이미 암묵적으로 썼던 브로드캐스팅. 이름을 붙여 정의하고, 배열끼리 규칙은 다음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규칙은 끝자리부터 비교해 같거나 한쪽이 1이면 확장. sales+promo는 (3,4)+(4,), inc+promo는 (3,1)+(1,4)의 실제 사례. 에러 메시지 'could not be broadcast together'를 읽는 연습.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최대 난관을 '지점별/상품별'이라는 실제 질문으로 해소. 결과 개수(4개 vs 3개)로 검산하는 습관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12개월 → 4분기×3개월로 reshape하고 axis=1로 분기별 합계까지 한 번에 — reshape+axis의 결합 예. -1 자동계산과 .T 전치도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지점(원주) 매출 행을 vstack으로 합류 → (4,4). 두 기간의 매출표를 hstack으로 옆으로 → (3,8). 분할은 vsplit/hsplit 문서 참고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sort는 값, argsort는 '순서 인덱스'. 시각화의 화살표 순서와 코드 출력 대응. 내림차순은 -revenue 트릭.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 실습: 월별 매출 12개로 reshape→axis→argmax→argsort까지. 노트북 '종합 예제' 섹션과 동일. 학생마다 숫자를 바꿔 실행해 보도록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확장 예제: 불리언 마스크로 뽑고 → sum으로 기여도 → np.where로 등급. 세 단계가 전부 오늘 문법의 조합. np.where는 맛보기.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5가지 복창. 코드샵 데이터 하나로 만들기-선택-계산-변형을 모두 통과했음을 회고.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 예고: 같은 매출 데이터가 DataFrame이 되는 그림. 오늘의 배열 개념이 그대로 이어짐. 질문은 LMS 게시판.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5029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0" b="1" dirty="0">
                <a:solidFill>
                  <a:srgbClr val="163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endParaRPr lang="en-US" sz="21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강의 자료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181051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NumPy 데이터 분석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상점 '코드샵'의 매출 데이터로 배우는 배열 분석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118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실험·실습 · PBL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71800" y="361188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36118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예제 · 코드샵 매출 데이터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0" y="361188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36118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· Google Colab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3977640"/>
            <a:ext cx="3749040" cy="2131695"/>
          </a:xfrm>
          <a:prstGeom prst="roundRect">
            <a:avLst>
              <a:gd name="adj" fmla="val 3003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28432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55864" y="4306824"/>
            <a:ext cx="3273552" cy="1073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np.array([9000, 25000,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4000, 18000])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quantities = np.array([12, 3, 45, 7])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* quantities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5453253"/>
            <a:ext cx="3273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5864" y="5526405"/>
            <a:ext cx="32735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array([108000,  75000, 180000,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126000])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예제 데이터는 수업용 가상 값입니다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오리엔테이션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학습 목표 — 코드샵 매출로 배열 분석하기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62763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배열을 만든다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np.array · arange · random으로 매출 배열을 만들고 shape·dtype을 확인한다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80720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2761488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데이터를 뽑는다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 · 슬라이싱 · 불리언 마스크로 조건에 맞는 매출만 골라낸다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41064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3895344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한 번에 계산한다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벡터화 · 브로드캐스팅 · axis로 지점별·상품별 매출을 집계한다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5074920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5065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50292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모양을 바꾼다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reshape · 결합 · 정렬로 연간 정산 리포트를 완성한다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863840" y="1554480"/>
            <a:ext cx="3867912" cy="4572000"/>
          </a:xfrm>
          <a:prstGeom prst="roundRect">
            <a:avLst>
              <a:gd name="adj" fmla="val 2128"/>
            </a:avLst>
          </a:prstGeom>
          <a:solidFill>
            <a:srgbClr val="EDF4FA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7830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83880" y="2322576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68512" y="2231136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 · arange · random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348472" y="2651760"/>
            <a:ext cx="0" cy="475488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255264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68512" y="3163824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선택하기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인덱싱 · 슬라이싱 · 마스크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48472" y="3584448"/>
            <a:ext cx="0" cy="475488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4187952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68512" y="4096512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계산하기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벡터화 · 브로드캐스팅 · axis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348472" y="4517136"/>
            <a:ext cx="0" cy="475488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5120640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33" name="Text 31"/>
          <p:cNvSpPr/>
          <p:nvPr/>
        </p:nvSpPr>
        <p:spPr>
          <a:xfrm>
            <a:off x="8183880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68512" y="502920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변형하기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reshape · vstack · sort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· 왜 넘파이인가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리스트로 하면 느리고 불편하기 때문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느리다 → 빠르다</a:t>
            </a:r>
            <a:endParaRPr lang="en-US" sz="15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리스트는 결제 내역을 한 건씩 파이썬이 처리 / 넘파이는 C로 구현된 코드가 덩어리째 계산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317296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불편하다 → 편하다</a:t>
            </a:r>
            <a:endParaRPr lang="en-US" sz="15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리스트끼리는 산술이 안 됨(곱하면 반복!) / 배열은 ·×÷가 원소별 계산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654296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놀지 않는다</a:t>
            </a:r>
            <a:endParaRPr lang="en-US" sz="15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판다스 · 맷플롯립 · 사이킷런 등 분석 도구가 모두 넘파이 배열 기반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760720" y="15727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1,000만 건 결제액의 합계에 걸린 시간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7880" y="4736592"/>
            <a:ext cx="5669280" cy="0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313432"/>
            <a:ext cx="1207008" cy="2423160"/>
          </a:xfrm>
          <a:prstGeom prst="roundRect">
            <a:avLst>
              <a:gd name="adj" fmla="val 2273"/>
            </a:avLst>
          </a:prstGeom>
          <a:solidFill>
            <a:srgbClr val="17406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98424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0.220초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48097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반복문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4318046"/>
            <a:ext cx="1207008" cy="418546"/>
          </a:xfrm>
          <a:prstGeom prst="roundRect">
            <a:avLst>
              <a:gd name="adj" fmla="val 6554"/>
            </a:avLst>
          </a:prstGeom>
          <a:solidFill>
            <a:srgbClr val="7FA8C9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398886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0.038초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09560" y="48097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sum( 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104120" y="4637463"/>
            <a:ext cx="1207008" cy="99129"/>
          </a:xfrm>
          <a:prstGeom prst="roundRect">
            <a:avLst>
              <a:gd name="adj" fmla="val 27673"/>
            </a:avLst>
          </a:prstGeom>
          <a:solidFill>
            <a:srgbClr val="F0A202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0" y="4308279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0.009초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0" y="48097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NumPy 벡터화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760720" y="513892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계산이 약 24배 — 반복문을 없애는 것이 곧 성능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54498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측정값(수업용 컴퓨터, Python 3.14 · NumPy 2.5) — 기기와 환경에 따라 다릅니다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· 넘파이의 위치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생태계의 공통 기반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288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판다스 pandas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 — 표(DataFrame) 형태 금융 데이터 분석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98848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18288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맷플롯립 matplotlib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7주차 — 매출·수익률 그래프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0456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03336" y="18288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사이킷런 scikit-learn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11–14주차 — 머신러닝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 flipV="1">
            <a:off x="2377440" y="3090672"/>
            <a:ext cx="0" cy="1115568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6099048" y="3090672"/>
            <a:ext cx="0" cy="1115568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9820656" y="3090672"/>
            <a:ext cx="0" cy="1115568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48840" y="4297680"/>
            <a:ext cx="7891272" cy="914400"/>
          </a:xfrm>
          <a:prstGeom prst="roundRect">
            <a:avLst>
              <a:gd name="adj" fmla="val 8000"/>
            </a:avLst>
          </a:prstGeom>
          <a:solidFill>
            <a:srgbClr val="17406B"/>
          </a:solidFill>
          <a:ln/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31720" y="4297680"/>
            <a:ext cx="7525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ndarray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9DB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자료형의 다차원 배열 + 벡터화 연산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0" y="5623560"/>
            <a:ext cx="12188952" cy="60350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62356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지금?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만드는 매출 배열이 6주차 판다스, 7주차 그래프, 머신러닝 주차에 그대로 재활용됩니다.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· 실습 환경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실습은 Google Colab에서 — 설치 없이 바로 시작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664208"/>
            <a:ext cx="5431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colab.research.google.com — 구글 계정으로 로그인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2633472"/>
            <a:ext cx="5431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노트 만들기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→ 새 노트, 이름은 'NumPy_코드샵_실습'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48456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3602736"/>
            <a:ext cx="5431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입력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셀에 슬라이드의 코드를 한 줄씩 타이핑(또는 붙여넣기)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08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4572000"/>
            <a:ext cx="5431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안을 클릭하고 Shift + Enter (또는 ▶ 버튼)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03720" y="1600200"/>
            <a:ext cx="4800600" cy="1684020"/>
          </a:xfrm>
          <a:prstGeom prst="roundRect">
            <a:avLst>
              <a:gd name="adj" fmla="val 380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1403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[2]: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41464" y="1929384"/>
            <a:ext cx="432511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      # 별명 np로 부르기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print(np.__version__)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41464" y="2790063"/>
            <a:ext cx="43251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41464" y="2863215"/>
            <a:ext cx="432511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2.5.3   # 버전은 다를 수 있음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03720" y="3604260"/>
            <a:ext cx="4800600" cy="1417320"/>
          </a:xfrm>
          <a:prstGeom prst="roundRect">
            <a:avLst>
              <a:gd name="adj" fmla="val 451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14032" y="36957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[3]: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41464" y="3933444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np.array([9000, 25000, 4000, 18000])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41464" y="4536948"/>
            <a:ext cx="43251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1464" y="4610100"/>
            <a:ext cx="4325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array([ 9000, 25000,  4000, 18000])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566928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56692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NumPy는 Colab에 이미 설치되어 있습니다 — import만 하면 됩니다. 만든 노트는 구글 드라이브에 자동 저장됩니다.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배열 만들기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리스트에서 출발 — np.array( 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np.array(리스트)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가격 리스트를 넘파이 배열(ndarray)로 변환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중첩 리스트 → 2차원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지점별 상품 매출을 [ [행1], [행2] ]로 감싸면 2차원 배열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자료형만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전체가 하나의 dtype을 가짐 — 자세히는 잠시 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" y="60899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강릉·춘천 지점 상품별 매출 (2행 × 4열)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5074920"/>
            <a:ext cx="996696" cy="429768"/>
          </a:xfrm>
          <a:prstGeom prst="roundRect">
            <a:avLst>
              <a:gd name="adj" fmla="val 744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5074920"/>
            <a:ext cx="996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09344" y="5074920"/>
            <a:ext cx="996696" cy="429768"/>
          </a:xfrm>
          <a:prstGeom prst="roundRect">
            <a:avLst>
              <a:gd name="adj" fmla="val 744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9344" y="5074920"/>
            <a:ext cx="996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51760" y="5074920"/>
            <a:ext cx="996696" cy="429768"/>
          </a:xfrm>
          <a:prstGeom prst="roundRect">
            <a:avLst>
              <a:gd name="adj" fmla="val 744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5074920"/>
            <a:ext cx="996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420000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94176" y="5074920"/>
            <a:ext cx="996696" cy="429768"/>
          </a:xfrm>
          <a:prstGeom prst="roundRect">
            <a:avLst>
              <a:gd name="adj" fmla="val 744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5074920"/>
            <a:ext cx="996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234000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5550408"/>
            <a:ext cx="996696" cy="429768"/>
          </a:xfrm>
          <a:prstGeom prst="roundRect">
            <a:avLst>
              <a:gd name="adj" fmla="val 744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5550408"/>
            <a:ext cx="996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189000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09344" y="5550408"/>
            <a:ext cx="996696" cy="429768"/>
          </a:xfrm>
          <a:prstGeom prst="roundRect">
            <a:avLst>
              <a:gd name="adj" fmla="val 744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9344" y="5550408"/>
            <a:ext cx="996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51760" y="5550408"/>
            <a:ext cx="996696" cy="429768"/>
          </a:xfrm>
          <a:prstGeom prst="roundRect">
            <a:avLst>
              <a:gd name="adj" fmla="val 744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5550408"/>
            <a:ext cx="996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315000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94176" y="5550408"/>
            <a:ext cx="996696" cy="429768"/>
          </a:xfrm>
          <a:prstGeom prst="roundRect">
            <a:avLst>
              <a:gd name="adj" fmla="val 7447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94176" y="5550408"/>
            <a:ext cx="996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1554480"/>
            <a:ext cx="6629400" cy="1417320"/>
          </a:xfrm>
          <a:prstGeom prst="roundRect">
            <a:avLst>
              <a:gd name="adj" fmla="val 451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[4]: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12664" y="1883664"/>
            <a:ext cx="6153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np.array([9000, 25000, 4000, 18000])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             # print 없이 쓰면 결과가 표시됨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12664" y="2487168"/>
            <a:ext cx="61539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12664" y="2560320"/>
            <a:ext cx="6153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array([ 9000, 25000,  4000, 18000])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74920" y="3246120"/>
            <a:ext cx="6629400" cy="1826895"/>
          </a:xfrm>
          <a:prstGeom prst="roundRect">
            <a:avLst>
              <a:gd name="adj" fmla="val 3504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85232" y="3337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[5]: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12664" y="3575304"/>
            <a:ext cx="6153912" cy="730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np.array([[270000, 150000, 420000, 234000],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[189000, 100000, 315000, 180000]])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312664" y="4378833"/>
            <a:ext cx="61539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12664" y="4451985"/>
            <a:ext cx="6153912" cy="51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array([[270000, 150000, 420000, 234000],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[189000, 100000, 315000, 180000]])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배열 만들기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쓰는 배열 생성 함수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663440"/>
                <a:gridCol w="3383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함수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예시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np.arange(1, 10, 2)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1부터 10 전까지 2씩 — 번호 매기기·월 번호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53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 3 5 7 9]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np.zeros((2, 3))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0으로 채운 배열 — 집계 결과 담을 그릇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53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2×3, 모두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np.ones((2, 2))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1로 채운 배열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53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2×2, 모두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np.full((4,), 0.03)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원하는 값으로 채움 — 예: 상품별 이율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53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4개, 모두 0.03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np.linspace(0, 1, 5)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0부터 1까지 5개로 균등 분할 — 금리 시나리오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53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[0. 0.25 0.5 0.75 1.]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553212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5321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암기 포인트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arange의 끝은 '미포함', linspace의 끝은 '포함' — 헷갈리기 쉬운 두 가지 규칙입니다.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배열 만들기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무작위 데이터 만들기 — np.random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309360" cy="1417320"/>
          </a:xfrm>
          <a:prstGeom prst="roundRect">
            <a:avLst>
              <a:gd name="adj" fmla="val 451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[6]: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929384"/>
            <a:ext cx="5833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np.random.seed(42)        # 시드 고정: 재현 가능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np.random.randn(3)        # 일일 수익률 시뮬레이션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2532888"/>
            <a:ext cx="583387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606040"/>
            <a:ext cx="5833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array([ 0.49671415, -0.1382643 ,  0.64768854])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6309360" cy="1417320"/>
          </a:xfrm>
          <a:prstGeom prst="roundRect">
            <a:avLst>
              <a:gd name="adj" fmla="val 451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3429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[7]: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3666744"/>
            <a:ext cx="5833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np.random.randint(50, 151, size=5)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하루 방문객 5일치 (50~150명)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" y="4270248"/>
            <a:ext cx="583387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4343400"/>
            <a:ext cx="5833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array([132, 136, 124, 124, 137])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16916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rand(n)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0과 1 사이 균일한 실수 n개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086600" y="271576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randn(n)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표준정규분포(평균 0) 실수 — 수익률 시뮬레이션의 기본 재료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86600" y="3739896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randint(a, b, 크기)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이상 b 미만 정수 — 방문객·거래 건수 모형 실험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086600" y="4828032"/>
            <a:ext cx="4617720" cy="1170432"/>
          </a:xfrm>
          <a:prstGeom prst="roundRect">
            <a:avLst>
              <a:gd name="adj" fmla="val 6250"/>
            </a:avLst>
          </a:prstGeom>
          <a:solidFill>
            <a:srgbClr val="FDF3DD"/>
          </a:solidFill>
          <a:ln w="12700">
            <a:solidFill>
              <a:srgbClr val="C989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4828032"/>
            <a:ext cx="4251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8A64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seed를 정하면 누구나 같은 난수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6B53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수업·과제에서 '내 결과 = 강사 결과'를 만드는 열쇠. 노트북 위쪽에 seed를 먼저 실행하는 습관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배열 만들기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배열의 모양을 읽는 네 가지 속성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074920" cy="3036570"/>
          </a:xfrm>
          <a:prstGeom prst="roundRect">
            <a:avLst>
              <a:gd name="adj" fmla="val 2108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600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[8]: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837944"/>
            <a:ext cx="4599432" cy="154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np.array([[270000, 150000, 420000, 234000],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[189000, 100000, 315000, 180000],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[108000,  75000, 180000, 126000]])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sales.shape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sales.ndim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sales.size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sales.dtype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3451098"/>
            <a:ext cx="45994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524250"/>
            <a:ext cx="4599432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dtype('int64')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645920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645920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270000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60920" y="1645920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645920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78240" y="1645920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1645920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420000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95560" y="1645920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95560" y="1645920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234000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2249424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249424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189000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2249424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249424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78240" y="2249424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0" y="2249424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315000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195560" y="2249424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95560" y="2249424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2852928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852928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60920" y="2852928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2852928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75000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78240" y="2852928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2852928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195560" y="2852928"/>
            <a:ext cx="137160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95560" y="2852928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126000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35040" y="37033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498080" y="37033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   </a:t>
            </a:r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 3행 × 상품 4열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035040" y="42153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ndim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498080" y="421538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</a:t>
            </a:r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 (몇 겹인지)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035040" y="47274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498080" y="472744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</a:t>
            </a:r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원소의 총 개수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035040" y="52395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498080" y="523951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   </a:t>
            </a:r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원소의 자료형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0" y="5806440"/>
            <a:ext cx="12188952" cy="45720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습관 들이기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데이터는 '지점×상품×월'처럼 여러 방향을 가집니다 — shape·dtype은 분석의 첫 확인사항.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배열 만들기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배열은 '한 가지 자료형'만 담는다 — dtype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532120" cy="1645920"/>
          </a:xfrm>
          <a:prstGeom prst="roundRect">
            <a:avLst>
              <a:gd name="adj" fmla="val 3889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[9]: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929384"/>
            <a:ext cx="5056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prices.dtype                # 정수 배열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prices.astype(np.float64)   # 실수로 변환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2532888"/>
            <a:ext cx="50566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606040"/>
            <a:ext cx="5056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dtype('int64')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array([ 9000., 25000.,  4000., 18000.])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7413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매출액·수량은 int64 — 평균·수익률 계산에는 float64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532120" cy="1188720"/>
          </a:xfrm>
          <a:prstGeom prst="roundRect">
            <a:avLst>
              <a:gd name="adj" fmla="val 5385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3931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[10]: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" y="4169664"/>
            <a:ext cx="5056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prices.mean()   # 정수 배열의 평균 → 실수 결과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" y="4544568"/>
            <a:ext cx="50566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4617720"/>
            <a:ext cx="5056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14000.0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440680" cy="1607820"/>
          </a:xfrm>
          <a:prstGeom prst="roundRect">
            <a:avLst>
              <a:gd name="adj" fmla="val 398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395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[11]: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01384" y="1929384"/>
            <a:ext cx="4965192" cy="51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np.array([9000, 25000, '이벤트'])   # 숫자+문자 혼합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np.array([9000, '머그컵'])          # 이것도 마찬가지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01384" y="2513838"/>
            <a:ext cx="496519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2586990"/>
            <a:ext cx="4965192" cy="51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array(['9000', '25000', '이벤트'], dtype='&lt;U21')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array(['9000', '머그컵'], dtype='&lt;U21')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333603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9000, 25000까지 문자열로 바뀌어 버림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3840480"/>
            <a:ext cx="5440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한 가지 자료형인가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원소 크기가 같아야 데이터 덩어리를 통째로 빠르게 계산할 수 있음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4617720"/>
            <a:ext cx="5440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astype은 언제?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평균·수익률처럼 실수 결과가 필요한 계산을 하기 전에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486400"/>
            <a:ext cx="12188952" cy="621792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48640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54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정수와 실수가 섞이면 자동으로 float64 하나로 통일. 숫자와 문자열을 섞으면 전부 문자열이 되니 주의!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데이터 선택하기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1차원 배열 — 인덱스와 슬라이스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943600" cy="2160270"/>
          </a:xfrm>
          <a:prstGeom prst="roundRect">
            <a:avLst>
              <a:gd name="adj" fmla="val 2963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600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[12]: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837944"/>
            <a:ext cx="546811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prices[0], prices[-1]    # 머그컵, 텀블러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prices[1:3]              # 2번째부터 3번째 '전'까지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prices[::2]              # 두 칸씩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" y="2698623"/>
            <a:ext cx="54681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771775"/>
            <a:ext cx="546811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(9000, 18000)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[25000, 4000]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[9000, 4000]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1228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[9000, 25000, 4000, 18000]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12280" y="196596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965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96596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965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196596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965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378440" y="196596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78440" y="1965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2542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노란 칸 = prices[1:3] → [25000, 4000]   (시작 포함 · 끝 미포함)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6949440" cy="1445895"/>
          </a:xfrm>
          <a:prstGeom prst="roundRect">
            <a:avLst>
              <a:gd name="adj" fmla="val 442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" y="4206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[13]: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" y="4443984"/>
            <a:ext cx="647395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prices[1:3]    # b는 prices를 바라보는 '창(view)'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b[0] = 9900        # b를 바꾸면 prices도 함께 바뀜!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" y="5066538"/>
            <a:ext cx="64739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5139690"/>
            <a:ext cx="64739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→ [ 9000, 9900,  4000, 18000]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26680" y="42245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사본이 필요하면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prices[1:3].copy()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5760720"/>
            <a:ext cx="12188952" cy="50292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54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슬라이스는 '복사'가 아니라 원본을 함께 보는 '뷰(view)' — 매출 데이터를 다룰 때 원본이 몰래 바뀌는 사고의 원인!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데이터 선택하기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2차원 배열 — 행(지점), 열(상품)을 쉼표로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94960" cy="3246120"/>
          </a:xfrm>
          <a:prstGeom prst="roundRect">
            <a:avLst>
              <a:gd name="adj" fmla="val 1972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[14]: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883664"/>
            <a:ext cx="4919472" cy="195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np.array([[270000, 150000,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420000, 234000],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[189000, 100000,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315000, 180000],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[108000,  75000,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180000, 126000]])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sales[1, 2]     # 춘천·스티커 팩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sales[0]        # 강릉 전체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sales[:, 1]     # 티셔츠 전 지점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3915918"/>
            <a:ext cx="491947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989070"/>
            <a:ext cx="4919472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315000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[270000, 150000, 420000, 234000]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[150000, 100000,  75000]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57400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057400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270000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0" y="2057400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057400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2057400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2057400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420000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41280" y="2057400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0" y="2057400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234000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679192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679192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189000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0" y="2679192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2679192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69680" y="2679192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2679192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315000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41280" y="2679192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0" y="2679192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3300984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300984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0" y="3300984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300984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75000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69680" y="3300984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3300984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241280" y="3300984"/>
            <a:ext cx="1325880" cy="576072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0" y="3300984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126000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264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= 지점 ↓ · 열 = 상품 →  (노란 칸 = sales[:2, 1:3])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126480" y="4041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sales[:2, 1:3] → [[150000, 420000], [100000, 315000]]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539496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539496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표기법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'지점, 상품' 순서로 콤마로 구분 — sales[지점, 상품]. ':'는 '그 방향 전체'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데이터 선택하기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조건으로 골라내기 — 불리언 인덱싱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7007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1627632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627632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94760" y="1627632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627632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75000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66360" y="1627632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627632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1627632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627632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126000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63240" y="2194560"/>
            <a:ext cx="0" cy="292608"/>
          </a:xfrm>
          <a:prstGeom prst="line">
            <a:avLst/>
          </a:prstGeom>
          <a:noFill/>
          <a:ln w="19050">
            <a:solidFill>
              <a:srgbClr val="8FA8B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57200" y="259689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100000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23160" y="2523744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523744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94760" y="2523744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2523744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66360" y="2523744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523744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2523744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523744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063240" y="3090672"/>
            <a:ext cx="0" cy="292608"/>
          </a:xfrm>
          <a:prstGeom prst="line">
            <a:avLst/>
          </a:prstGeom>
          <a:noFill/>
          <a:ln w="19050">
            <a:solidFill>
              <a:srgbClr val="8FA8BC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57200" y="3493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revenue[마스크]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23160" y="3419856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3419856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94760" y="3419856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3419856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166360" y="3419856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419856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126000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 = True, F = False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434840"/>
            <a:ext cx="6035040" cy="1445895"/>
          </a:xfrm>
          <a:prstGeom prst="roundRect">
            <a:avLst>
              <a:gd name="adj" fmla="val 442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7512" y="4526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[15]: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" y="4764024"/>
            <a:ext cx="555955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= prices * quantities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revenue[revenue &gt;= 100000]     # 10만 원 넘는 상품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94944" y="5386578"/>
            <a:ext cx="5559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5459730"/>
            <a:ext cx="55595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array([108000, 180000, 126000])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812280" y="4434840"/>
            <a:ext cx="4892040" cy="1445895"/>
          </a:xfrm>
          <a:prstGeom prst="roundRect">
            <a:avLst>
              <a:gd name="adj" fmla="val 442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022592" y="4526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[16]: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50024" y="4764024"/>
            <a:ext cx="441655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revenue[(revenue &gt;= 100000)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 (revenue &lt; 150000)]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050024" y="5386578"/>
            <a:ext cx="4416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5459730"/>
            <a:ext cx="44165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array([108000, 126000])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0" y="5943600"/>
            <a:ext cx="12188952" cy="50292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54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문법 주의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조합은 &amp; (그리고), | (또는) — 파이썬의 and/or가 아닙니다. 조건마다 괄호!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데이터 선택하기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뽑고 싶은 번호를 나열 — 팬시 인덱싱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035040" cy="1207770"/>
          </a:xfrm>
          <a:prstGeom prst="roundRect">
            <a:avLst>
              <a:gd name="adj" fmla="val 5300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[17]: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929384"/>
            <a:ext cx="55595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prices[[3, 0]]     # 텀블러, 머그컵 순서로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" y="2313813"/>
            <a:ext cx="5559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386965"/>
            <a:ext cx="55595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array([18000,  9000])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6035040" cy="1607820"/>
          </a:xfrm>
          <a:prstGeom prst="roundRect">
            <a:avLst>
              <a:gd name="adj" fmla="val 398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3154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[18]: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3392424"/>
            <a:ext cx="55595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sales[[2, 0, 1]]   # 지점 순서 바꾸기: 속초→강릉→춘천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4944" y="3757803"/>
            <a:ext cx="5559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830955"/>
            <a:ext cx="5559552" cy="730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[[108000,  75000, 180000, 126000]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[270000, 150000, 420000, 234000]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[189000, 100000, 315000, 180000]]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1965960"/>
            <a:ext cx="1069848" cy="466344"/>
          </a:xfrm>
          <a:prstGeom prst="roundRect">
            <a:avLst>
              <a:gd name="adj" fmla="val 686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965960"/>
            <a:ext cx="10698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5008" y="1965960"/>
            <a:ext cx="1069848" cy="466344"/>
          </a:xfrm>
          <a:prstGeom prst="roundRect">
            <a:avLst>
              <a:gd name="adj" fmla="val 686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1965960"/>
            <a:ext cx="10698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0576" y="1965960"/>
            <a:ext cx="1069848" cy="466344"/>
          </a:xfrm>
          <a:prstGeom prst="roundRect">
            <a:avLst>
              <a:gd name="adj" fmla="val 6863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1965960"/>
            <a:ext cx="10698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296144" y="1965960"/>
            <a:ext cx="1069848" cy="466344"/>
          </a:xfrm>
          <a:prstGeom prst="roundRect">
            <a:avLst>
              <a:gd name="adj" fmla="val 6863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96144" y="1965960"/>
            <a:ext cx="10698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prices[[3, 0]] → 18000, 9000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2871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중복·역순 모두 자유 — 결과는 항상 '새 배열(복사)'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5806440"/>
            <a:ext cx="12188952" cy="50292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슬라이스는 '연속된 구간', 팬시 인덱싱은 '제멋대로 나열'. 다음 sort·argsort와 합쳐지면 '매출 순서대로 상품 줄 세우기'가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배열로 계산하기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반복문 없이 한 번에 — 벡터화 연산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리스트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5486400" cy="1607820"/>
          </a:xfrm>
          <a:prstGeom prst="roundRect">
            <a:avLst>
              <a:gd name="adj" fmla="val 398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[19]: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231136"/>
            <a:ext cx="5010912" cy="51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prices_list = [9000, 25000, 4000, 18000]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prices_list * 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2815590"/>
            <a:ext cx="50109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888742"/>
            <a:ext cx="5010912" cy="51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[9000, 25000, 4000, 18000,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9000, 25000, 4000, 18000]   # 반복!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NumPy 배열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901952"/>
            <a:ext cx="5440680" cy="1607820"/>
          </a:xfrm>
          <a:prstGeom prst="roundRect">
            <a:avLst>
              <a:gd name="adj" fmla="val 398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[20]: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01384" y="2231136"/>
            <a:ext cx="4965192" cy="51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* 2        # 모든 상품 가격 2배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+ 1000     # 모든 상품 인상 1,000원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01384" y="2815590"/>
            <a:ext cx="496519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2888742"/>
            <a:ext cx="4965192" cy="51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array([18000, 50000,  8000, 36000])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array([10000, 26000,  5000, 19000])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배열에 연산자를 쓰면 '원소별(element-wise)' 계산이 한 번에 일어난다</a:t>
            </a:r>
            <a:endParaRPr lang="en-US" sz="19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모양끼리 + − × ÷ 가 성립 — 매출 = prices * quantities가 이미 이 계산이었습니다. 수학 함수도 통째로: np.sqrt · np.abs · np.round …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503920" y="3931920"/>
            <a:ext cx="3200400" cy="1169670"/>
          </a:xfrm>
          <a:prstGeom prst="roundRect">
            <a:avLst>
              <a:gd name="adj" fmla="val 5472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14232" y="4023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[21]: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41664" y="4261104"/>
            <a:ext cx="272491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np.sqrt(np.array([1, 4, 9]))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41664" y="4626483"/>
            <a:ext cx="27249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41664" y="4699635"/>
            <a:ext cx="272491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array([1., 2., 3.])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배열로 계산하기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달라도 계산 — 브로드캐스팅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스칼라 1개가 전체로 '퍼짐'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+ 숫자 한 개 → 모든 원소에 동시 적용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패턴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상품 일괄 10% 할인, 전 결제 건 수수료율 적용 등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4480560" cy="1388745"/>
          </a:xfrm>
          <a:prstGeom prst="roundRect">
            <a:avLst>
              <a:gd name="adj" fmla="val 4609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" y="41605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[22]: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4398264"/>
            <a:ext cx="4005072" cy="51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 = prices * 0.9   # 10% 할인가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4944" y="4982718"/>
            <a:ext cx="400507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5055870"/>
            <a:ext cx="400507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array([ 8100., 22500.,  3600., 16200.])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15000" y="2194560"/>
            <a:ext cx="0" cy="1737360"/>
          </a:xfrm>
          <a:prstGeom prst="line">
            <a:avLst/>
          </a:prstGeom>
          <a:noFill/>
          <a:ln w="22225">
            <a:solidFill>
              <a:srgbClr val="C4A24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2103120"/>
            <a:ext cx="1005840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2103120"/>
            <a:ext cx="1005840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210312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2103120"/>
            <a:ext cx="1005840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10312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81160" y="2103120"/>
            <a:ext cx="1005840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10312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46920" y="292608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0A202"/>
          </a:solidFill>
          <a:ln w="12700">
            <a:solidFill>
              <a:srgbClr val="C989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0.9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126480" y="3794760"/>
            <a:ext cx="1005840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79476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78040" y="3794760"/>
            <a:ext cx="1005840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379476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3794760"/>
            <a:ext cx="1005840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379476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81160" y="3794760"/>
            <a:ext cx="1005840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81160" y="379476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6480" y="4572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할인율 0.9라는 값 하나가 4개 상품 자리로 '방송(broadcast)'됩니다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5623560"/>
            <a:ext cx="121889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브로드캐스팅 = '작은 쪽을 큰 쪽 모양에 맞춰 자동 복제 후 계산'. 다음 장에서 배열끼리의 규칙을 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배열로 계산하기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브로드캐스팅 규칙 — '끝자리 모양'끼리 맞춘다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157276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83664" y="1572768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3664" y="15727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07792" y="157276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4992" y="1572768"/>
            <a:ext cx="960120" cy="512064"/>
          </a:xfrm>
          <a:prstGeom prst="roundRect">
            <a:avLst>
              <a:gd name="adj" fmla="val 8929"/>
            </a:avLst>
          </a:prstGeom>
          <a:solidFill>
            <a:srgbClr val="17406B"/>
          </a:solidFill>
          <a:ln w="9525">
            <a:solidFill>
              <a:srgbClr val="174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5727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7720" y="1572768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1차원 (4,)가 각 행(각 지점)으로 복사돼 더해짐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1401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(3, 1)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81328" y="241401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83664" y="2414016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83664" y="241401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(1, 4)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907792" y="241401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64992" y="2414016"/>
            <a:ext cx="960120" cy="512064"/>
          </a:xfrm>
          <a:prstGeom prst="roundRect">
            <a:avLst>
              <a:gd name="adj" fmla="val 8929"/>
            </a:avLst>
          </a:prstGeom>
          <a:solidFill>
            <a:srgbClr val="17406B"/>
          </a:solidFill>
          <a:ln w="9525">
            <a:solidFill>
              <a:srgbClr val="174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41401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2414016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양쪽 모두 부족한 방향으로 확장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5526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481328" y="325526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883664" y="3255264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83664" y="325526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(4,)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2907792" y="325526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364992" y="3255264"/>
            <a:ext cx="960120" cy="512064"/>
          </a:xfrm>
          <a:prstGeom prst="roundRect">
            <a:avLst>
              <a:gd name="adj" fmla="val 8929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25526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오류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617720" y="3255264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끝자리 3 ≠ 4, 어느 쪽도 1이 아니면 복제 불가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7200" y="4224528"/>
            <a:ext cx="6492240" cy="1779270"/>
          </a:xfrm>
          <a:prstGeom prst="roundRect">
            <a:avLst>
              <a:gd name="adj" fmla="val 359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7512" y="4315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[23]: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" y="4553712"/>
            <a:ext cx="6016752" cy="492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 = np.array([10000, 20000, 0, 30000])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+ promo      # 상품별 지원금이 각 지점에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4944" y="5119116"/>
            <a:ext cx="60167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5192268"/>
            <a:ext cx="6016752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[[280000, 170000, 420000, 264000]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[199000, 120000, 315000, 210000]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[118000,  95000, 180000, 156000]]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69480" y="4224528"/>
            <a:ext cx="4434840" cy="1731645"/>
          </a:xfrm>
          <a:prstGeom prst="roundRect">
            <a:avLst>
              <a:gd name="adj" fmla="val 369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79792" y="4315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[24]: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07224" y="4553712"/>
            <a:ext cx="39593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= np.array([[30000], [20000], [10000]])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+ promo       # 지점 인센티브 + 상품 지원금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07224" y="5100066"/>
            <a:ext cx="3959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07224" y="5173218"/>
            <a:ext cx="3959352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[[40000, 50000, 30000, 60000]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[30000, 40000, 20000, 50000]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[20000, 30000, 10000, 40000]]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배열로 계산하기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집계와 axis — 지점별로? 상품별로?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286000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270000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2286000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286000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2286000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286000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420000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2286000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286000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234000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71600" y="2889504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889504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23160" y="2889504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889504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0" y="2889504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889504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315000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2889504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889504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71600" y="3493008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493008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3493008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493008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0" y="3493008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493008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26280" y="3493008"/>
            <a:ext cx="1005840" cy="557784"/>
          </a:xfrm>
          <a:prstGeom prst="roundRect">
            <a:avLst>
              <a:gd name="adj" fmla="val 573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493008"/>
            <a:ext cx="1005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126000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32688" y="2286000"/>
            <a:ext cx="0" cy="1810512"/>
          </a:xfrm>
          <a:prstGeom prst="line">
            <a:avLst/>
          </a:prstGeom>
          <a:noFill/>
          <a:ln w="25400">
            <a:solidFill>
              <a:srgbClr val="17406B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 rot="16200000">
            <a:off x="256032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axis=0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371600" y="1883664"/>
            <a:ext cx="4206240" cy="0"/>
          </a:xfrm>
          <a:prstGeom prst="line">
            <a:avLst/>
          </a:prstGeom>
          <a:noFill/>
          <a:ln w="25400">
            <a:solidFill>
              <a:srgbClr val="C9890B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466344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axis=1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4434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axis=0 : 아래로 훑어 같은 상품(열)끼리 → 상품별 총매출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axis=1 : 옆으로 훑어 같은 지점(행)끼리 → 지점별 총매출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806440" y="1691640"/>
            <a:ext cx="5897880" cy="2484120"/>
          </a:xfrm>
          <a:prstGeom prst="roundRect">
            <a:avLst>
              <a:gd name="adj" fmla="val 257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16752" y="1783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[25]: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44184" y="2020824"/>
            <a:ext cx="5422392" cy="94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sales.sum(axis=0)    # 상품별 (4개)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sales.sum(axis=1)    # 지점별 (3개)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sales.mean(axis=1)   # 지점별 평균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sales.sum()          # 전체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44184" y="3043428"/>
            <a:ext cx="542239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44184" y="3116580"/>
            <a:ext cx="5422392" cy="94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[567000, 325000, 915000, 540000]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[1074000,  784000,  489000]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[268500., 196000., 122250.]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2347000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566928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6692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'결과 개수'로 확인 — 상품별이면 4개, 지점별이면 3개. 매출 표에서 axis는 '어느 방향으로 합칠지'입니다.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· 배열 변형하기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 바꾸기 — reshape과 전치(.T)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8470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monthly = 월별 매출 12개 (단위: 만원)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579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1579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26464" y="21579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21579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1579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1579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45536" y="21579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21579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05072" y="21579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5072" y="21579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64608" y="21579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1579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26151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6151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26464" y="26151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26464" y="26151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26151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6151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45536" y="26151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45536" y="26151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05072" y="26151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05072" y="26151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64608" y="2615184"/>
            <a:ext cx="813816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615184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reshape(4, 3)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행 = 한 분기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28346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834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28346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2834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869680" y="28346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2834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32918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291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680960" y="32918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3291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69680" y="32918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3291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188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37490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37490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680960" y="37490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37490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197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69680" y="37490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69680" y="37490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92240" y="42062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42062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680960" y="42062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80960" y="42062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69680" y="4206240"/>
            <a:ext cx="1143000" cy="411480"/>
          </a:xfrm>
          <a:prstGeom prst="roundRect">
            <a:avLst>
              <a:gd name="adj" fmla="val 7778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69680" y="42062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4983480"/>
            <a:ext cx="6675120" cy="1417320"/>
          </a:xfrm>
          <a:prstGeom prst="roundRect">
            <a:avLst>
              <a:gd name="adj" fmla="val 451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67512" y="5074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[26]: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4944" y="5312664"/>
            <a:ext cx="6199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 = monthly.reshape(4, 3)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quarter.sum(axis=1)          # 분기별 매출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94944" y="5916168"/>
            <a:ext cx="61996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" y="5989320"/>
            <a:ext cx="6199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[470, 533, 592, 666]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589520" y="49377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-1은 '남은 만큼 알아서'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monthly.reshape(2, -1).shape → (2, 6)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monthly.reshape(3, 4).T.shape → (4, 3)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원소 수(size 12)가 같아야만 가능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· 배열 변형하기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붙이기 — vstack · hstack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vstack — 아래로 (새 지점 합류)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38528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38528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07008" y="1938528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938528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1938528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3936" y="1938528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40864" y="1938528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40864" y="1938528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340864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340864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07008" y="2340864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2340864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73936" y="2340864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73936" y="2340864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40864" y="2340864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0864" y="2340864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779776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779776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207008" y="2779776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2779776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73936" y="2779776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73936" y="2779776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40864" y="2779776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40864" y="2779776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2542032"/>
            <a:ext cx="502920" cy="0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794760" y="1938528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1938528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61688" y="1938528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61688" y="1938528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28616" y="1938528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1938528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95544" y="1938528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95544" y="1938528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94760" y="2340864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2340864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61688" y="2340864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61688" y="2340864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28616" y="2340864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28616" y="2340864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95544" y="2340864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5544" y="2340864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94760" y="2743200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94760" y="2743200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61688" y="2743200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61688" y="2743200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28616" y="2743200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8616" y="2743200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95544" y="2743200"/>
            <a:ext cx="521208" cy="356616"/>
          </a:xfrm>
          <a:prstGeom prst="roundRect">
            <a:avLst>
              <a:gd name="adj" fmla="val 897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95544" y="2743200"/>
            <a:ext cx="521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67512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hstack — 옆으로 (기간 합치기)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6675120" y="1938528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75120" y="1938528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178040" y="1938528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78040" y="1938528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680960" y="1938528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80960" y="1938528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675120" y="2340864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75120" y="2340864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178040" y="2340864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78040" y="2340864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680960" y="2340864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80960" y="2340864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321040" y="1938528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21040" y="1938528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823960" y="1938528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23960" y="1938528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9326880" y="1938528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326880" y="1938528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321040" y="2340864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21040" y="2340864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823960" y="2340864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23960" y="2340864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9326880" y="2340864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326880" y="2340864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0012680" y="2395728"/>
            <a:ext cx="0" cy="438912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6675120" y="2926080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75120" y="2926080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178040" y="2926080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78040" y="2926080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680960" y="2926080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80960" y="2926080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183880" y="2926080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183880" y="2926080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686800" y="2926080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86800" y="2926080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189720" y="2926080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189720" y="2926080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675120" y="3328416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75120" y="3328416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178040" y="3328416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178040" y="3328416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680960" y="3328416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80960" y="3328416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8183880" y="3328416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83880" y="3328416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8686800" y="3328416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686800" y="3328416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9189720" y="3328416"/>
            <a:ext cx="457200" cy="356616"/>
          </a:xfrm>
          <a:prstGeom prst="roundRect">
            <a:avLst>
              <a:gd name="adj" fmla="val 897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189720" y="3328416"/>
            <a:ext cx="457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457200" y="3977640"/>
            <a:ext cx="6720840" cy="1252728"/>
          </a:xfrm>
          <a:prstGeom prst="roundRect">
            <a:avLst>
              <a:gd name="adj" fmla="val 5109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667512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[27]: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694944" y="4306824"/>
            <a:ext cx="6245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wonju = np.array([90000, 60000, 120000, 70000])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np.vstack([sales, wonju]).shape   # 원주점 합류 (4, 4)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np.hstack([sales, sales]).shape   # 기간 이어붙이기 (3, 8)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7589520" y="411480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v는 vertical(세로), h는 horizontal(가로)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묶을 배열들은 리스트로 넘깁니다.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지점이 늘면 vstack, 기간이 늘면 hstack —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판다스 concat과 같은 발상.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· 배열 변형하기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— sort와 argsort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20848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5603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54480" y="20848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머그컵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54480" y="2560320"/>
            <a:ext cx="1325880" cy="420624"/>
          </a:xfrm>
          <a:prstGeom prst="roundRect">
            <a:avLst>
              <a:gd name="adj" fmla="val 869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56032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71800" y="20848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티셔츠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71800" y="2560320"/>
            <a:ext cx="1325880" cy="420624"/>
          </a:xfrm>
          <a:prstGeom prst="roundRect">
            <a:avLst>
              <a:gd name="adj" fmla="val 869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56032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75000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0" y="20848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2560320"/>
            <a:ext cx="1325880" cy="420624"/>
          </a:xfrm>
          <a:prstGeom prst="roundRect">
            <a:avLst>
              <a:gd name="adj" fmla="val 869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56032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06440" y="20848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텀블러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06440" y="2560320"/>
            <a:ext cx="1325880" cy="420624"/>
          </a:xfrm>
          <a:prstGeom prst="roundRect">
            <a:avLst>
              <a:gd name="adj" fmla="val 8696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56032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126000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194560" y="3035808"/>
            <a:ext cx="0" cy="310896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66928" y="345643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argsort → 낮은 매출 순서:  티셔츠(75,000) → 머그컵(108,000) → 텀블러(126,000) → 스티커 팩(180,000)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6720840" cy="1988820"/>
          </a:xfrm>
          <a:prstGeom prst="roundRect">
            <a:avLst>
              <a:gd name="adj" fmla="val 3218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[28]: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" y="4306824"/>
            <a:ext cx="6245352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= np.array(['머그컵', '티셔츠', '스티커 팩', '텀블러'])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= prices * quantities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np.argsort(revenue)          # '순서'를 담은 인덱스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products[np.argsort(revenue)]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" y="5291328"/>
            <a:ext cx="6245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5364480"/>
            <a:ext cx="6245352" cy="492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0, 3, 2]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['티셔츠', '머그컵', '텀블러', '스티커 팩']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4114800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argsort + 팬시 인덱싱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'매출 순서대로 상품명을 줄 세우는'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단골 패턴.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내림차순(높은 순)은 np.argsort(-revenue) → [2, 3, 0, 1]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· 따라 하기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코드샵 연간 정산 — 오늘 배운 것 전부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720840" cy="3246120"/>
          </a:xfrm>
          <a:prstGeom prst="roundRect">
            <a:avLst>
              <a:gd name="adj" fmla="val 1972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600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[29]: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837944"/>
            <a:ext cx="6245352" cy="174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= np.array([150, 162, 158, 170, 175, 188,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190, 197, 205, 214, 220, 232])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 = monthly.reshape(4, 3)      # 분기×월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quarter.sum(axis=1)                  # 분기별 매출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monthly.sum()                        # 연 매출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monthly.max(), monthly.argmax()      # 최고 매출과 그 달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np.argsort(-monthly)[:3]             # 매출 Top 3 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3660648"/>
            <a:ext cx="6245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733800"/>
            <a:ext cx="6245352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[470, 533, 592, 666]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2261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(232, 11)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[11, 10,  9]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17406B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160934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2,261만원</a:t>
            </a:r>
            <a:endParaRPr lang="en-US" sz="2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9DB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매출 — sum()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589520" y="2688336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3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232만원 · 12월</a:t>
            </a:r>
            <a:endParaRPr lang="en-US" sz="2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매출 — max() · argmax()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589520" y="3822192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18120" y="387705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3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666만원 · 4분기</a:t>
            </a:r>
            <a:endParaRPr lang="en-US" sz="2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분기 — reshape + axis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0" y="5623560"/>
            <a:ext cx="12188952" cy="621792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623560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만들기(np.array) → 변형(reshape) → 집계(axis) → 선택(argmax·argsort) — 이 흐름이 다음 주 판다스 분석의 뼈대입니다. 실습 노트북에서 그대로 다시 실행해 보세요.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예제 · 한 걸음 더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마스크 + 집계 + np.where — 상품 등급 매기기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720840" cy="2265045"/>
          </a:xfrm>
          <a:prstGeom prst="roundRect">
            <a:avLst>
              <a:gd name="adj" fmla="val 282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[30]: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929384"/>
            <a:ext cx="6245352" cy="94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= revenue[revenue &gt;= 100000]        # 불리언 인덱싱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np.round(top.sum() / revenue.sum() * 100, 1)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np.where(revenue &gt;= 100000, '인기', '점검')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4944" y="2951988"/>
            <a:ext cx="6245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025140"/>
            <a:ext cx="6245352" cy="730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array([108000, 180000, 126000])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84.7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array(['인기', '점검', '인기', '인기'], dtype='&lt;U2')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52360" y="1737360"/>
            <a:ext cx="42519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상품 기여도 84.7%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10만 원 이상 3개 상품이 전체 매출의 84.7% — 마스크로 골라 sum으로 요약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3154680"/>
            <a:ext cx="42519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np.where(조건, A, B)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조건이 참이면 A, 거짓이면 B를 채운 새 배열 — 등급·플래그 만들기에 필수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92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포인트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문법 몇 개로 '기여도 분석 + 상품 등급'까지 갈 수 있습니다 — 실제 리포트의 축소판입니다.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np.where는 오늘 소개만 하고 다음 학기에 정식으로 다룹니다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다섯 가지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013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ndarray는 '한 가지 자료형'의 다차원 배열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표(3,4)도 결국 shape·dtype으로 읽는다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417320" y="2551176"/>
            <a:ext cx="9784080" cy="0"/>
          </a:xfrm>
          <a:prstGeom prst="line">
            <a:avLst/>
          </a:prstGeom>
          <a:noFill/>
          <a:ln w="9525">
            <a:solidFill>
              <a:srgbClr val="1B3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426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262432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만들기: np.array · arange · zeros · linspace · random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seed를 고정하면 결과를 재현할 수 있다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417320" y="3392424"/>
            <a:ext cx="9784080" cy="0"/>
          </a:xfrm>
          <a:prstGeom prst="line">
            <a:avLst/>
          </a:prstGeom>
          <a:noFill/>
          <a:ln w="9525">
            <a:solidFill>
              <a:srgbClr val="1B3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8386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346557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선택: 인덱싱 · 슬라이싱(뷰!) · 불리언 마스크 · 팬시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선택은 &amp; 와 | 로 조합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417320" y="4233672"/>
            <a:ext cx="9784080" cy="0"/>
          </a:xfrm>
          <a:prstGeom prst="line">
            <a:avLst/>
          </a:prstGeom>
          <a:noFill/>
          <a:ln w="9525">
            <a:solidFill>
              <a:srgbClr val="1B3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251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17320" y="430682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계산: 벡터화 + 브로드캐스팅 + axis 집계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지점별은 axis=1, 상품별은 axis=0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417320" y="5074920"/>
            <a:ext cx="9784080" cy="0"/>
          </a:xfrm>
          <a:prstGeom prst="line">
            <a:avLst/>
          </a:prstGeom>
          <a:noFill/>
          <a:ln w="9525">
            <a:solidFill>
              <a:srgbClr val="1B3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1663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17320" y="514807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변형: reshape(-1) · vstack/hstack · sort/argsort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argsort + 팬시 인덱싱은 순위 정리 단골 패턴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17320" y="6035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노트북의 '코드샵 예제'를 처음부터 다시 실행해 보면 오늘 내용이 정리됩니다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NumPy 데이터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예고 · 판다스(Pandas)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배열에 이름을 얹으면 표가 됩니다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행·열 이름을 가진 DataFrame으로 매출 데이터 분석을 본격적으로 시작합니다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463040" y="3246120"/>
            <a:ext cx="82296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246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3246120"/>
            <a:ext cx="82296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3246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3246120"/>
            <a:ext cx="82296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246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420000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3703320"/>
            <a:ext cx="82296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703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3703320"/>
            <a:ext cx="82296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3703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703320"/>
            <a:ext cx="822960" cy="411480"/>
          </a:xfrm>
          <a:prstGeom prst="roundRect">
            <a:avLst>
              <a:gd name="adj" fmla="val 7778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703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ndarray — 이름 없는 숫자 덩어리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657600"/>
            <a:ext cx="777240" cy="0"/>
          </a:xfrm>
          <a:prstGeom prst="line">
            <a:avLst/>
          </a:prstGeom>
          <a:noFill/>
          <a:ln w="25400">
            <a:solidFill>
              <a:srgbClr val="F0A202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06908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A20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행·열 이름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324612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지점\상품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2461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머그컵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2461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40680" y="3749040"/>
            <a:ext cx="91440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7490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강릉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3749040"/>
            <a:ext cx="86868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74904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270000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3749040"/>
            <a:ext cx="86868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374904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420000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0680" y="4206240"/>
            <a:ext cx="91440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4206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춘천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4206240"/>
            <a:ext cx="86868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420624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189000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4206240"/>
            <a:ext cx="868680" cy="420624"/>
          </a:xfrm>
          <a:prstGeom prst="roundRect">
            <a:avLst>
              <a:gd name="adj" fmla="val 8696"/>
            </a:avLst>
          </a:prstGeom>
          <a:solidFill>
            <a:srgbClr val="12283C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420624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8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315000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DataFrame — 이름 있는 표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82396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0A20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오늘 실습 노트북 완주하기  ② 매출 배열의 shape·dtype 설명해 보기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데이터 분석</dc:title>
  <dc:subject>PptxGenJS Presentation</dc:subject>
  <dc:creator>2026 컴퓨터코딩</dc:creator>
  <cp:lastModifiedBy>2026 컴퓨터코딩</cp:lastModifiedBy>
  <cp:revision>1</cp:revision>
  <dcterms:created xsi:type="dcterms:W3CDTF">2026-09-30T06:32:08Z</dcterms:created>
  <dcterms:modified xsi:type="dcterms:W3CDTF">2026-09-30T06:32:08Z</dcterms:modified>
</cp:coreProperties>
</file>