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1주차 오리엔테이션. 인공지능 개요 — 오늘의 흐름을 소개하고 Colab 실습으로 진행한다.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오늘은 개념 잡기가 전부. 코드는 맛보기 수준이고, Colab 첫 실행이 목표. PBL 방식(문제 → 토론)도 함께 소개한다.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 경험을 먼저 듣고 시작. 네 사례 모두 "데이터에서 패턴을 찾는다"는 공통점으로 수렴시킨다.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용어를 따로 외우게 하지 말고 포함 관계로 기억시킨다. 딥러닝이 최근에 주목받은 이유(데이터·GPU)도 한 줄씩.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스팸 필터 한 가지로 두 방식을 대비. 학습 방식의 본질은 "사람이 규칙을 쓰는 대신 데이터가 규칙을 찾는다".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정답(라벨)의 유무로 세 가지를 구분하는 것이 핵심. 강화학습은 이 수업 범위 밖이라고 명시.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지도학습의 두 갈래. 정답이 "카테고리냐 숫자냐"로 구분. 학생들에게 예시를 더 뽑아보게 하는 것도 좋음.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용어는 10주차 타이타닉까지 계속 쓰인다. 학생 말로 다시 설명하게 해보기.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평가가 끝이 아니라 순환이라는 점을 강조. 실무에서는 이 고리를 여러 번 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연도를 통째로 외우게 하지 말고 "무엇이 바뀌었나"만. 튜링→규칙·탐색→딥러닝→생성 AI의 흐름.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수업의 뼈대가 되는 그림. 3~7주차가 각 단계의 도구를 주는 시간임을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PBL 참여용 OX 퀴즈. 정답: 학습/규칙/학습/규칙. 토론 포인트 — 계산기는 입력이 바뀌어도 규칙이 안 바뀐다.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수업이 최종적으로 가는 곳을 미리 보여 주는 동기 부여 장면. 10주차에 정확히 이 흐름으로 돌아온다.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전체 지도. 전반부 도구(1~7) → 중간고사(8) → 실전 데이터(9~10) → 머신러닝(11~14) → 기말(15).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도구마다 "역할 한 줄"만 기억. 전부 Colab에 이미 설치되어 있어 2주차 설치 부담이 적다는 안심 메시지.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라이브로 따라 하게 한다. 계정이 없는 학생은 옆 사람과 화면 공유하거나 수업 후 생성 과제.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따옴표 유무의 차이만 느끼게 한다. 원리는 3주차에서 제대로 — 지금은 재미가 우선.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5주차 기온 데이터의 전신. 리스트·sum·len은 지금 몰라도 된다 — "계산은 도구가 다 해 준다"는 인상만.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노트북 배포 방식(강의 플랫폼/공유 드라이브)에 맞게 1단계 문구를 조정해서 사용.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씨 뿌리기 시간. 15분 내외 소그룹 토론 후 한 줄씩 공유. 답을 강요하지 말고 질문을 남긴다.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환상과 경계를 동시에. 데이터 편향 사례(채용 AI)를 짧게 이야기하고 "검증 습관"으로 마무리.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Colab에서 직접 타이핑하게 하고, 마크다운 셀에 오늘 용어 3개를 내 사례와 함께 정리하게 한다(노트북 마지막 셀과 연결).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다섯 핵심을 학생 말로 다시 말하게 하고 마친다.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2주차 예고: Colab 점검 + 로컬 설치(파이썬·VS Code)와 노트북 사용법.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5200" y="640800"/>
            <a:ext cx="4572000" cy="329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0" b="1">
                <a:solidFill>
                  <a:srgbClr val="16354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4400" y="1418400"/>
            <a:ext cx="7315200" cy="32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2026 컴퓨터코딩 · 데이터 분석 입문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600" y="1828800"/>
            <a:ext cx="7498800" cy="100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540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인공지능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4400" y="2926800"/>
            <a:ext cx="6948000" cy="41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75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데이터에서 답을 찾는 힘 — 규칙에서 학습으로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4400" y="3704400"/>
            <a:ext cx="2012400" cy="421200"/>
          </a:xfrm>
          <a:prstGeom prst="roundRect">
            <a:avLst/>
          </a:prstGeom>
          <a:solidFill>
            <a:srgbClr val="173650"/>
          </a:solidFill>
          <a:ln w="12096">
            <a:solidFill>
              <a:srgbClr val="27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4400" y="3704400"/>
            <a:ext cx="2012400" cy="42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1주차 / 15주차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3600" y="3704400"/>
            <a:ext cx="2012400" cy="421200"/>
          </a:xfrm>
          <a:prstGeom prst="roundRect">
            <a:avLst/>
          </a:prstGeom>
          <a:solidFill>
            <a:srgbClr val="173650"/>
          </a:solidFill>
          <a:ln w="12096">
            <a:solidFill>
              <a:srgbClr val="27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3600" y="3704400"/>
            <a:ext cx="2012400" cy="42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실험·실습 · PBL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2800" y="3704400"/>
            <a:ext cx="2012400" cy="421200"/>
          </a:xfrm>
          <a:prstGeom prst="roundRect">
            <a:avLst/>
          </a:prstGeom>
          <a:solidFill>
            <a:srgbClr val="173650"/>
          </a:solidFill>
          <a:ln w="12096">
            <a:solidFill>
              <a:srgbClr val="27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2800" y="3704400"/>
            <a:ext cx="2012400" cy="42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실습 환경 · Google Colab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9200" y="3978000"/>
            <a:ext cx="3747600" cy="182520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000" y="4068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[1]: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6800" y="4305600"/>
            <a:ext cx="3272400" cy="54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print("안녕, 파이썬!")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365 * 24        # 1년은 몇 시간?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56800" y="4849200"/>
            <a:ext cx="32724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56800" y="4921200"/>
            <a:ext cx="3272400" cy="54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안녕, 파이썬!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8760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00" y="5990400"/>
            <a:ext cx="4572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2026년 1학기 · 강의자료 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1주차 인공지능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오리엔테이션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오늘의 학습 목표 — 인공지능의 큰 그림 잡기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674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66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8400" y="1638000"/>
            <a:ext cx="5799600" cy="100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① 인공지능 · 머신러닝 · 딥러닝을 구분해 말한다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세 용어의 관계를 그림 하나로 정리한다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08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800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8400" y="2772000"/>
            <a:ext cx="5799600" cy="100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② 규칙 방식과 학습 방식의 차이를 설명한다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같은 문제를 두 방식으로 풀면 무엇이 다른지 본다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942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934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400" y="3906000"/>
            <a:ext cx="5799600" cy="100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③ 데이터 분석의 전체 흐름을 그린다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질문부터 답까지 다섯 단계 — 이 수업의 지도가 된다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5076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068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8400" y="5040000"/>
            <a:ext cx="5799600" cy="100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④ Colab에서 첫 코드를 실행한다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설치 없이 브라우저에서 실습이 시작된다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2400" y="1555200"/>
            <a:ext cx="3866400" cy="4572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2800" y="1782000"/>
            <a:ext cx="3225600" cy="32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오늘의 흐름</a:t>
            </a:r>
          </a:p>
        </p:txBody>
      </p:sp>
      <p:sp>
        <p:nvSpPr>
          <p:cNvPr id="20" name="Oval 19"/>
          <p:cNvSpPr/>
          <p:nvPr/>
        </p:nvSpPr>
        <p:spPr>
          <a:xfrm>
            <a:off x="8182800" y="2322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2800" y="2314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8800" y="2232000"/>
            <a:ext cx="27504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사례 보기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5E6E7E"/>
                </a:solidFill>
                <a:latin typeface="Consolas"/>
                <a:ea typeface="Consolas"/>
                <a:cs typeface="Consolas"/>
              </a:rPr>
              <a:t>일상 속 인공지능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48400" y="2656800"/>
            <a:ext cx="0" cy="475200"/>
          </a:xfrm>
          <a:prstGeom prst="line">
            <a:avLst/>
          </a:prstGeom>
          <a:ln w="20161">
            <a:solidFill>
              <a:srgbClr val="C9D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182800" y="32544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2800" y="32472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68800" y="3164400"/>
            <a:ext cx="27504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개념 잡기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5E6E7E"/>
                </a:solidFill>
                <a:latin typeface="Consolas"/>
                <a:ea typeface="Consolas"/>
                <a:cs typeface="Consolas"/>
              </a:rPr>
              <a:t>AI · ML · DL, 규칙 vs 학습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348400" y="3589200"/>
            <a:ext cx="0" cy="475200"/>
          </a:xfrm>
          <a:prstGeom prst="line">
            <a:avLst/>
          </a:prstGeom>
          <a:ln w="20161">
            <a:solidFill>
              <a:srgbClr val="C9D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182800" y="41868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2800" y="41796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8800" y="4096800"/>
            <a:ext cx="27504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흐름 그리기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5E6E7E"/>
                </a:solidFill>
                <a:latin typeface="Consolas"/>
                <a:ea typeface="Consolas"/>
                <a:cs typeface="Consolas"/>
              </a:rPr>
              <a:t>머신러닝 작동 · 분석 5단계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348400" y="4521600"/>
            <a:ext cx="0" cy="475200"/>
          </a:xfrm>
          <a:prstGeom prst="line">
            <a:avLst/>
          </a:prstGeom>
          <a:ln w="20161">
            <a:solidFill>
              <a:srgbClr val="C9D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182800" y="51192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2800" y="51120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800" y="5029200"/>
            <a:ext cx="27504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Colab 첫 실행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5E6E7E"/>
                </a:solidFill>
                <a:latin typeface="Consolas"/>
                <a:ea typeface="Consolas"/>
                <a:cs typeface="Consolas"/>
              </a:rPr>
              <a:t>print · 데이터 맛보기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1주차 인공지능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도입 · 일상 속 인공지능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이미 매일 쓰는 인공지능 네 가지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0000"/>
            <a:ext cx="5508000" cy="140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200" y="1620000"/>
            <a:ext cx="5148000" cy="14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추천 시스템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유튜브 · 넷플릭스 · 쇼핑 — 내가 본 기록에서 다음 선택을 예측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200" y="1620000"/>
            <a:ext cx="5508000" cy="140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7200" y="1620000"/>
            <a:ext cx="5148000" cy="14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음성 비서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말이 글자로 바뀌는 음성 인식 — 수백만 명의 음성 데이터로 학습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22000"/>
            <a:ext cx="5508000" cy="140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200" y="3222000"/>
            <a:ext cx="5148000" cy="14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스팸 필터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메일함에 도착 전에 걸러 줌 — 수만 통의 스팸·정상 메일로 학습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200" y="3222000"/>
            <a:ext cx="5508000" cy="140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200" y="3222000"/>
            <a:ext cx="5148000" cy="14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기계 번역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문장 전체를 자연스럽게 — 문장 쌍 데이터로 번역 패턴을 학습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공통점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사람이 규칙을 다 알려 주지 않았다 — 데이터에서 패턴을 찾아 스스로 판단한다. 오늘 수업의 출발점입니다.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1주차 인공지능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도입 · 용어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인공지능 ⊃ 머신러닝 ⊃ 딥러닝 — 포함 관계로 기억하기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4752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인공지능 AI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사람처럼 판단·학습하는 능력을 만든 기술 전체 — 1950년대부터의 큰 물통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52000"/>
            <a:ext cx="4752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머신러닝 ML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데이터에서 규칙을 스스로 찾아내는 방식 — 오늘의 주인공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40000"/>
            <a:ext cx="4752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딥러닝 DL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머신러닝의 한 갈래 — 신경망으로 이미지·음성·문장을 정복 (2012~)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24000" y="1566000"/>
            <a:ext cx="5976000" cy="392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4A7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0000" y="1710000"/>
            <a:ext cx="5544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인공지능 AI — 규칙 기반 전통 기법도 포함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16000" y="2142000"/>
            <a:ext cx="4392000" cy="2988000"/>
          </a:xfrm>
          <a:prstGeom prst="roundRect">
            <a:avLst/>
          </a:prstGeom>
          <a:solidFill>
            <a:srgbClr val="C9DAEA"/>
          </a:solidFill>
          <a:ln w="12096">
            <a:solidFill>
              <a:srgbClr val="4A7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2000" y="2286000"/>
            <a:ext cx="39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머신러닝 ML — 데이터로 학습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08000" y="2718000"/>
            <a:ext cx="2808000" cy="2052000"/>
          </a:xfrm>
          <a:prstGeom prst="roundRect">
            <a:avLst/>
          </a:prstGeom>
          <a:solidFill>
            <a:srgbClr val="17406B"/>
          </a:solidFill>
          <a:ln w="12096">
            <a:solidFill>
              <a:srgbClr val="174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08000" y="2718000"/>
            <a:ext cx="2808000" cy="20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딥러닝 DL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신경망 — 이미지 · 음성 · 생성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왜 지금?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데이터가 넘쳐나고 계산 능력이 커지면서, 2012년 이후 딥러닝이 인공지능의 주류가 되었습니다.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1주차 인공지능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도입 · 두 가지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규칙으로 만들면 vs 데이터로 배우면 — 스팸 필터 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0000"/>
            <a:ext cx="5508000" cy="3672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200" y="1620000"/>
            <a:ext cx="5148000" cy="36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규칙 방식 — 사람이 규칙을 쓴다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"무료로 받으세요"가 있으면 스팸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장점  원리가 명확하고 설명이 쉽다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한계  새로운 스팸 수법이 나올 때마다 사람이 규칙을 고쳐야 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8000" y="1620000"/>
            <a:ext cx="5508000" cy="3672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8000" y="1620000"/>
            <a:ext cx="5148000" cy="36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학습 방식 — 데이터에서 배운다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스팸/정상 메일 수천 통을 모델에 학습 → 새 메일도 스스로 판단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장점  새 데이터가 쌓일수록 같이 성장한다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주의  데이터가 편하면 판단도 편한다 — 20장에서 다시 봄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정의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머신러닝 = 사람이 규칙을 다 알려 주는 대신, 데이터에서 규칙을 자동으로 찾아내는 방법.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1주차 인공지능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개념 · 머신러닝의 세 가지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정답을 주느냐, 안 주느냐 — 세 갈래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0000"/>
            <a:ext cx="3708000" cy="3096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200" y="1620000"/>
            <a:ext cx="3348000" cy="30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지도학습 Supervised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정답(라벨)이 있는 데이터로 학습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스팸 분류 · 집값 예측 · 합격 예측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12~13주차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9200" y="1620000"/>
            <a:ext cx="3708000" cy="3096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9200" y="1620000"/>
            <a:ext cx="3348000" cy="30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비지도학습 Unsupervised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정답 없이 데이터의 구조를 찾는다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군집화 · 그룹 나누기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14주차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41200" y="1620000"/>
            <a:ext cx="3708000" cy="3096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21200" y="1620000"/>
            <a:ext cx="3348000" cy="30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강화학습 Reinforcement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보상을 받으며 시행착오로 배운다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게임 AI · 로봇 제어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이 수업 범위 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이 수업에서는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실무의 대부분은 지도학습입니다 — 12주차 분류, 13주차 회귀, 14주차 군집화 순서로 갑니다.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1주차 인공지능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개념 · 지도학습의 두 갈래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분류 vs 회귀 — 정답이 카테고리인가 숫자인가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0000"/>
            <a:ext cx="5508000" cy="3672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200" y="1620000"/>
            <a:ext cx="5148000" cy="36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분류 Classification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정답이 카테고리 — 이것 중 하나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합격 / 불합격   스팸 / 정상   고양이 / 강아지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2A5379"/>
                </a:solidFill>
                <a:latin typeface="Consolas"/>
                <a:ea typeface="Consolas"/>
                <a:cs typeface="Consolas"/>
              </a:rPr>
              <a:t>이메일 → (모델) → 스팸 확률 92% → 스팸 판정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8000" y="1620000"/>
            <a:ext cx="5508000" cy="3672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8000" y="1620000"/>
            <a:ext cx="5148000" cy="36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회귀 Regression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정답이 숫자 — 얼마나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내일 기온 23.4℃   집값 3억 2천   시험 점수 87점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2A5379"/>
                </a:solidFill>
                <a:latin typeface="Consolas"/>
                <a:ea typeface="Consolas"/>
                <a:cs typeface="Consolas"/>
              </a:rPr>
              <a:t>아파트 정보 → (모델) → 예상 가격 3.2억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기억 법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정답을 "고르는" 문제는 분류, 정답을 "계산하는" 문제는 회귀 — 12·13주차에 직접 만듭니다.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1주차 인공지능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개념 · 데이터의 언어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꼭 알아야 할 네 개의 단어 — 데이터 · 특성 · 라벨 · 모델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0000"/>
            <a:ext cx="5508000" cy="140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200" y="1620000"/>
            <a:ext cx="5148000" cy="14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데이터 Data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관찰하고 기록한 것의 모음 — 표, 이미지, 문장 모두 데이터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200" y="1620000"/>
            <a:ext cx="5508000" cy="140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7200" y="1620000"/>
            <a:ext cx="5148000" cy="14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특성 Feature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예측의 재료가 되는 속성 — 키, 나이, 어제까지의 기온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22000"/>
            <a:ext cx="5508000" cy="140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200" y="3222000"/>
            <a:ext cx="5148000" cy="14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라벨 Label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맞추려는 정답 — 스팸 여부, 생존 여부, 내일 기온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200" y="3222000"/>
            <a:ext cx="5508000" cy="140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200" y="3222000"/>
            <a:ext cx="5148000" cy="14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모델 Model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데이터에서 학습한 판단기 — 입력(특성) → 출력(예측)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미리보기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10주차 타이타닉 — 특성은 나이·성별·객실 등급, 라벨은 생존 여부. 오늘의 단어가 그대로 쓰입니다.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1주차 인공지능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개념 · 머신러닝의 작동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데이터 → 학습 → 예측 → 평가 — 그리고 다시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56000"/>
            <a:ext cx="2556000" cy="122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200" y="1656000"/>
            <a:ext cx="2196000" cy="12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① 데이터 수집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많을수록 보통 유리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8000" y="2124000"/>
            <a:ext cx="5040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00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7200" y="1656000"/>
            <a:ext cx="2556000" cy="122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7200" y="1656000"/>
            <a:ext cx="2196000" cy="12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② 모델 학습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데이터에서 패턴을 찾는 시간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48000" y="2124000"/>
            <a:ext cx="5040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00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97200" y="1656000"/>
            <a:ext cx="2556000" cy="122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7200" y="1656000"/>
            <a:ext cx="2196000" cy="12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③ 예측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새 데이터에 답을 낸다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8000" y="2124000"/>
            <a:ext cx="5040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00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67200" y="1656000"/>
            <a:ext cx="2556000" cy="122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47200" y="1656000"/>
            <a:ext cx="2196000" cy="12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④ 평가·개선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얼마나 맞았나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8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평가는 끝이 아니라 출발점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점수가 낮으면 데이터를 더 모으고, 특성을 고치고, 다시 학습한다 — 이 반복이 실무의 일상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3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우리가 배우는 도구의 위치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넘파이·판다스는 ①·②의 데이터 손질과 학습 재료 준비를, 사이킷런은 ②·③·④를 맡는다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한 줄 정리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머신러닝 = 데이터 수집 → 학습 → 예측 → 평가의 반복 고리. 다음 장의 분석 5단계와 이어집니다.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1주차 인공지능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도입 · 짧은 역사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70년의 여정 — 무엇이 바뀌었나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56000"/>
            <a:ext cx="2556000" cy="3096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200" y="1656000"/>
            <a:ext cx="2196000" cy="30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0A202"/>
                </a:solidFill>
                <a:latin typeface="Consolas"/>
                <a:ea typeface="Consolas"/>
                <a:cs typeface="Consolas"/>
              </a:rPr>
              <a:t>1950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튜링 테스트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"기계는 생각할 수 있는가" — 인공지능의 출발점이 된 질문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7200" y="1656000"/>
            <a:ext cx="2556000" cy="3096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7200" y="1656000"/>
            <a:ext cx="2196000" cy="30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0A202"/>
                </a:solidFill>
                <a:latin typeface="Consolas"/>
                <a:ea typeface="Consolas"/>
                <a:cs typeface="Consolas"/>
              </a:rPr>
              <a:t>1997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딥블루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체스 세계 챔피언을 꺾음 — 사람이 만든 규칙과 탐색의 승리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7200" y="1656000"/>
            <a:ext cx="2556000" cy="3096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7200" y="1656000"/>
            <a:ext cx="2196000" cy="30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0A202"/>
                </a:solidFill>
                <a:latin typeface="Consolas"/>
                <a:ea typeface="Consolas"/>
                <a:cs typeface="Consolas"/>
              </a:rPr>
              <a:t>2012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알렉스넷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이미지 인식 대회 압승 — 딥러닝 + 빅데이터 + GPU의 시작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67200" y="1656000"/>
            <a:ext cx="2556000" cy="3096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47200" y="1656000"/>
            <a:ext cx="2196000" cy="30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0A202"/>
                </a:solidFill>
                <a:latin typeface="Consolas"/>
                <a:ea typeface="Consolas"/>
                <a:cs typeface="Consolas"/>
              </a:rPr>
              <a:t>2022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생성 AI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ChatGPT 등 — "다음 단어 맞히기"로 문장을 배우는 기계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공통 배경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모든 돌파구의 뒤에는 데이터의 증가와 계산 능력의 성장이 있었습니다 — 그래서 이 수업의 출발점도 데이터입니다.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1주차 인공지능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개념 · 데이터 분석의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다섯 단계 — 이 수업의 지도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56000"/>
            <a:ext cx="2124000" cy="122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200" y="1656000"/>
            <a:ext cx="1764000" cy="12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① 질문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무엇을 알고 싶나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4400" y="2124000"/>
            <a:ext cx="5040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00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97200" y="1656000"/>
            <a:ext cx="2124000" cy="122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7200" y="1656000"/>
            <a:ext cx="1764000" cy="12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② 수집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데이터를 모은다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64400" y="2124000"/>
            <a:ext cx="5040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00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7200" y="1656000"/>
            <a:ext cx="2124000" cy="122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17200" y="1656000"/>
            <a:ext cx="1764000" cy="12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③ 정리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빈칸·오류 손질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4400" y="2124000"/>
            <a:ext cx="5040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00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7200" y="1656000"/>
            <a:ext cx="2124000" cy="122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57200" y="1656000"/>
            <a:ext cx="1764000" cy="12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④ 분석·시각화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요약하고 그린다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4400" y="2124000"/>
            <a:ext cx="5040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00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17200" y="1656000"/>
            <a:ext cx="2124000" cy="122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97200" y="1656000"/>
            <a:ext cx="1764000" cy="12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⑤ 답·예측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질문에 답한다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8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① 질문이 반이다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"누가 살아남았나", "언제 제일 더웠나" — 답하고 싶은 질문이 데이터와 방법을 결정한다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3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도구는 3~7주차에서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파이썬 문법 → 넘파이(계산) → 판다스(표) → 그래프(보여 주기) — 단계마다 하나씩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다음 주부터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이 다섯 단계를 실제 데이터로 직접 걷게 됩니다. 오늘은 지도를 한 번 그려 둔 것뿐입니다.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1주차 인공지능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PBL · 오늘의 퀴즈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규칙일까, 학습일까? — 각자 먼저 생각하고 근거 말하기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0000"/>
            <a:ext cx="5508000" cy="140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200" y="1620000"/>
            <a:ext cx="5148000" cy="14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Q1  유튜브가 내 취향 영상을 추천한다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내가 본 기록 데이터가 계속 쌓인다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200" y="1620000"/>
            <a:ext cx="5508000" cy="140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7200" y="1620000"/>
            <a:ext cx="5148000" cy="14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Q2  계산기가 7×8의 답을 내준다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입력이 무엇이든 같은 공식을 적용한다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22000"/>
            <a:ext cx="5508000" cy="140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200" y="3222000"/>
            <a:ext cx="5148000" cy="14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Q3  메일 서비스가 스팸을 걸러 준다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새 스팸 수법이 나오면 판정 기준이 바뀐다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200" y="3222000"/>
            <a:ext cx="5508000" cy="140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200" y="3222000"/>
            <a:ext cx="5148000" cy="14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Q4  온도(℃)를 화씨(℉)로 바꾼다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℃ × 1.8 + 32 — 공식은 절대 안 변한다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토론 포인트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정답보다 근거 — "데이터가 쌓이며 판단이 바뀌면 학습, 공식이 고정이면 규칙"입니다.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1주차 인공지능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사례 · 이 수업이 갈 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타이타닉 — 누가 살아남았나 (10주차 예고)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22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1912년 4월, 타이타닉 침몰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2,224명 탑승, 1,502명이 사망 — "어떤 사람이 살아남았을까"는 지금도 대표적인 데이터 분석 연습 문제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16000"/>
            <a:ext cx="522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데이터로 답하기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승객 명단(나이·성별·객실 등급·가족)과 생존 여부 기록 — 특성과 라벨이 갖춰진 지도학습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8000"/>
            <a:ext cx="522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이 수업이 걷는 길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공공데이터(9주차)로 연습 → 타이타닉(10주차) 분석 → 머신러닝(11~14주차)으로 예측까지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8000" y="1656000"/>
            <a:ext cx="5508000" cy="356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8000" y="1656000"/>
            <a:ext cx="5148000" cy="356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질문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"1등객실 여성은 살아남았을까?" — 질문이 분석을 시작한다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데이터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891명의 승객 기록 — 나이, 성별, 객실 등급, 탑승 항구…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목표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생존/사망을 맞히는 분류 모델 — 12주차 분류의 실전 재료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미리 준비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지금은 어려워 보여도 괜찮습니다 — 3~7주차의 도구를 하나씩 쌓으면 10주차에는 직접 분석하게 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1주차 인공지능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준비 · 이 수업의 지도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15주 로드맵 — 어디서 무엇을 배우나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84000"/>
          <a:ext cx="11246400" cy="37728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2160000"/>
                <a:gridCol w="4464000"/>
                <a:gridCol w="4622400"/>
              </a:tblGrid>
              <a:tr h="396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주차</a:t>
                      </a:r>
                    </a:p>
                  </a:txBody>
                  <a:tcPr marL="82296" marR="82296" marT="82296" marB="82296" anchor="ctr">
                    <a:solidFill>
                      <a:srgbClr val="17406B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주제</a:t>
                      </a:r>
                    </a:p>
                  </a:txBody>
                  <a:tcPr marL="82296" marR="82296" marT="82296" marB="82296" anchor="ctr">
                    <a:solidFill>
                      <a:srgbClr val="17406B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배우는 것</a:t>
                      </a:r>
                    </a:p>
                  </a:txBody>
                  <a:tcPr marL="82296" marR="82296" marT="82296" marB="82296" anchor="ctr">
                    <a:solidFill>
                      <a:srgbClr val="17406B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482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1~2주차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인공지능 개요 · SW 준비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개념의 큰 그림, Colab과 개발 환경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482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3~4주차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파이썬 기초 문법 · 자료구조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변수·조건문·반복문, 리스트·딕셔너리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482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5~7주차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넘파이 · 판다스 · 그래프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데이터 분석 3대 도구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482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8주차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중간고사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지금까지의 실기·개념 점검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482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9~10주차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공공데이터 · 타이타닉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실전 데이터로 질문→분석→시각화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482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11~14주차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머신러닝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입문 → 분류 → 회귀 → 군집화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482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15주차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기말고사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학기 전체 정리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1주차 인공지능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준비 · 데이터 분석 도구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도구 다섯 형제 — 각자의 역할 한 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56000"/>
            <a:ext cx="2124000" cy="302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200" y="1656000"/>
            <a:ext cx="1764000" cy="30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파이썬 Python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F0A202"/>
                </a:solidFill>
                <a:latin typeface="나눔고딕"/>
                <a:ea typeface="나눔고딕"/>
                <a:cs typeface="나눔고딕"/>
              </a:rPr>
              <a:t>기본 언어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모든 것의 바탕이 되는 언어 — 3~4주차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97200" y="1656000"/>
            <a:ext cx="2124000" cy="302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7200" y="1656000"/>
            <a:ext cx="1764000" cy="30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넘파이 NumPy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F0A202"/>
                </a:solidFill>
                <a:latin typeface="나눔고딕"/>
                <a:ea typeface="나눔고딕"/>
                <a:cs typeface="나눔고딕"/>
              </a:rPr>
              <a:t>배열 계산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숫자 덩어리를 한 번에 계산 — 5주차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37200" y="1656000"/>
            <a:ext cx="2124000" cy="302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17200" y="1656000"/>
            <a:ext cx="1764000" cy="30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판다스 pandas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F0A202"/>
                </a:solidFill>
                <a:latin typeface="나눔고딕"/>
                <a:ea typeface="나눔고딕"/>
                <a:cs typeface="나눔고딕"/>
              </a:rPr>
              <a:t>표 분석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행·열이 있는 표를 다룬다 — 6주차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77200" y="1656000"/>
            <a:ext cx="2124000" cy="302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57200" y="1656000"/>
            <a:ext cx="1764000" cy="30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맷플롯립 matplotlib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F0A202"/>
                </a:solidFill>
                <a:latin typeface="나눔고딕"/>
                <a:ea typeface="나눔고딕"/>
                <a:cs typeface="나눔고딕"/>
              </a:rPr>
              <a:t>그래프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숫자를 그림으로 — 7주차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17200" y="1656000"/>
            <a:ext cx="2124000" cy="302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97200" y="1656000"/>
            <a:ext cx="1764000" cy="30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사이킷런 scikit-learn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F0A202"/>
                </a:solidFill>
                <a:latin typeface="나눔고딕"/>
                <a:ea typeface="나눔고딕"/>
                <a:cs typeface="나눔고딕"/>
              </a:rPr>
              <a:t>머신러닝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학습·예측·평가 도구 상자 — 11~14주차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안심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다섯 도구 모두 무료·오픈소스이고 Colab에 이미 설치되어 있습니다 — 2주차에는 내 노트북에도 준비합니다.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1주차 인공지능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준비 · 실습 환경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Google Colab 첫 접속 — 설치 없이 바로 시작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710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02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8400" y="1674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접속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colab.research.google.com — 구글 계정으로 로그인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682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74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8400" y="2646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새 노트 만들기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파일 → 새 노트, 이름은 "1주차_인공지능개요 실습"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654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46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400" y="3618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코드 입력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첫 셀에 슬라이드 오른쪽의 코드를 그대로 타이핑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626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618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8400" y="4590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실행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셀 안을 클릭하고 Shift + Enter (또는 ▶ 버튼)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4800" y="1602000"/>
            <a:ext cx="4802400" cy="123225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[1]: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2400" y="1929600"/>
            <a:ext cx="4356000" cy="346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print("Hello, Colab!")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42400" y="2236125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42400" y="2308125"/>
            <a:ext cx="4356000" cy="346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Hello, Colab!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4800" y="2952000"/>
            <a:ext cx="4802400" cy="170850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3600" y="304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[2]: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2400" y="3279600"/>
            <a:ext cx="4356000" cy="584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2 + 3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"2 + 3"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42400" y="3824250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142400" y="3896250"/>
            <a:ext cx="4356000" cy="584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'2 + 3'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Tip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설치도 계정 비용도 없습니다. 만든 노트는 구글 드라이브에 자동 저장됩니다.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1주차 인공지능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실습 맛보기 · 첫 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print( ) — 화면에 보여 주는 첫 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print("문자열")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따옴표 안을 그대로 보여 준다 — "안녕"은 글자 그대로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print(2 + 3)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계산을 먼저 하고 결과를 보여 준다 — 5가 출력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print("2 + 3")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따옴표가 있으면 계산하지 않는다 — 글자 "2 + 3" 그대로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지금은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차이가 신기한 정도면 충분합니다. 원리는 3주차 파이썬 문법에서 제대로 다룹니다.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4800" y="1602000"/>
            <a:ext cx="4802400" cy="224190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[3]: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2400" y="1929600"/>
            <a:ext cx="4356000" cy="850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print("Hello, AI!")</a:t>
            </a:r>
          </a:p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print(2 + 3)</a:t>
            </a:r>
          </a:p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print("2 + 3")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42400" y="2740950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42400" y="2812950"/>
            <a:ext cx="4356000" cy="850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Hello, AI!</a:t>
            </a:r>
          </a:p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2 + 3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1주차 인공지능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실습 맛보기 · 데이터 맛보기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일주일 기온 데이터의 평균 — 세 줄이면 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데이터를 모은다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대괄호 [ ] 안에 쉼표로 나열 — 이 그릇을 "리스트"라고 부른다 (4주차)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sum( ) 과 len( )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sum은 합계, len은 개수 — 평균 = 합계 ÷ 개수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5주차의 예고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이 계산을 넘파이는 temps.mean( ) 한 줄로 끝냅니다 — 도구는 계속 좋아집니다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40000"/>
            <a:ext cx="5616000" cy="702000"/>
          </a:xfrm>
          <a:prstGeom prst="roundRect">
            <a:avLst/>
          </a:prstGeom>
          <a:solidFill>
            <a:srgbClr val="FDF3DD"/>
          </a:solidFill>
          <a:ln w="12700">
            <a:solidFill>
              <a:srgbClr val="C989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800" y="5040000"/>
            <a:ext cx="5248800" cy="70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8A6410"/>
                </a:solidFill>
                <a:latin typeface="나눔고딕"/>
                <a:ea typeface="나눔고딕"/>
                <a:cs typeface="나눔고딕"/>
              </a:rPr>
              <a:t>아직 문법을 몰라도 된다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6B5312"/>
                </a:solidFill>
                <a:latin typeface="나눔고딕"/>
                <a:ea typeface="나눔고딕"/>
                <a:cs typeface="나눔고딕"/>
              </a:rPr>
              <a:t>오늘은 "실행하면 데이터가 답을 준다"는 경험이면 충분 — 매주 한 층씩 올라갑니다.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4800" y="1602000"/>
            <a:ext cx="4802400" cy="266100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[4]: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2400" y="1929600"/>
            <a:ext cx="4356000" cy="129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temps = [18.5, 19.2, 21.0, 19.8, 22.3]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sum(temps)          # 합계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len(temps)          # 개수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sum(temps) / len(temps)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42400" y="3188625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42400" y="3260625"/>
            <a:ext cx="4356000" cy="822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100.8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20.16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1주차 인공지능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실습 · 오늘의 노트북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실습 노트북 받아서 Colab에서 열기 — 매주 반복되는 4단계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710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02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8400" y="1674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노트북 파일(.ipynb) 받기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수업 플랫폼에서 week01 실습 노트북을 내려받는다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682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74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8400" y="2646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Colab에서 열기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Colab → 파일 → 노트북 업로드 (또는 구글 드라이브에 올려 두고 열기)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654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46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400" y="3618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위에서부터 순서대로 실행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Shift + Enter — 위 셀부터 차례로 실행해야 결과가 이어진다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626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618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8400" y="4590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끝까지 완주하면 오늘 끝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마지막 "오늘의 정리" 셀까지 — 모르는 셀은 손 들고 질문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4800" y="1602000"/>
            <a:ext cx="4802400" cy="338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4800" y="1602000"/>
            <a:ext cx="4442400" cy="338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0">
                <a:solidFill>
                  <a:srgbClr val="5E6E7E"/>
                </a:solidFill>
                <a:latin typeface="Consolas"/>
                <a:ea typeface="Consolas"/>
                <a:cs typeface="Consolas"/>
              </a:rPr>
              <a:t>Notebooks/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400" b="1">
                <a:solidFill>
                  <a:srgbClr val="17406B"/>
                </a:solidFill>
                <a:latin typeface="Consolas"/>
                <a:ea typeface="Consolas"/>
                <a:cs typeface="Consolas"/>
              </a:rPr>
              <a:t>week01_ai_intro_practice.ipynb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5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노트북 안에는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3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· 따라 하기 셀 (코드를 그대로 실행)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3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· ⚠ 주의 셀 (실수하기 쉬운 포인트)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· 💡 감 잡기 셀 (숫자를 바꿔 다시 실행)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노트북이 교재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이 수업은 매주 실습 노트북이 따라 하기 교재입니다. 오늘은 힘들지 않을 겁니다 — 첫 노트북이니까요.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1주차 인공지능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PBL · 생각 나누기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같이 이야기해 봅시다 — 답보다 이유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0000"/>
            <a:ext cx="3708000" cy="3456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200" y="1620000"/>
            <a:ext cx="3348000" cy="345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F0A202"/>
                </a:solidFill>
                <a:latin typeface="Consolas"/>
                <a:ea typeface="Consolas"/>
                <a:cs typeface="Consolas"/>
              </a:rPr>
              <a:t>Q1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보험료를 AI가 정한다?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사고 기록·운전 습관 데이터로 개인별 보험료를 정하는 회사가 있습니다. 이건 규칙일까, 학습일까? 어떤 데이터가 쓰였을까?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9200" y="1620000"/>
            <a:ext cx="3708000" cy="3456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9200" y="1620000"/>
            <a:ext cx="3348000" cy="345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F0A202"/>
                </a:solidFill>
                <a:latin typeface="Consolas"/>
                <a:ea typeface="Consolas"/>
                <a:cs typeface="Consolas"/>
              </a:rPr>
              <a:t>Q2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스팸이 정상 메일을 잡았다!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중요한 메일이 스팸함에 갇혔다. 누구 책임일까? 스팸 필터를 만드는 회사는 무엇을 고민해야 할까?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41200" y="1620000"/>
            <a:ext cx="3708000" cy="3456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21200" y="1620000"/>
            <a:ext cx="3348000" cy="345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F0A202"/>
                </a:solidFill>
                <a:latin typeface="Consolas"/>
                <a:ea typeface="Consolas"/>
                <a:cs typeface="Consolas"/>
              </a:rPr>
              <a:t>Q3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나를 둘러싼 추천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내가 쓰는 추천 서비스 하나를 골라 보자. 장점은 무엇이고, 나쁜 점은 없을까? (예: 비슷한 것만 보여 주면?)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PBL — 문제 중심 학습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이 수업은 문제를 풀어 나가며 배웁니다. 오늘의 질문은 학기 내내 다시 만나게 됩니다.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1주차 인공지능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주의 · 인공지능의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기대만큼 신중해야 — 세 가지 주의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0000"/>
            <a:ext cx="3708000" cy="3096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200" y="1620000"/>
            <a:ext cx="3348000" cy="30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편향 Bias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학습 데이터가 치우치면 판단도 치우친다 — 특정 집합을 불리하게 채용한 AI 사례가 실제 있었다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9200" y="1620000"/>
            <a:ext cx="3708000" cy="3096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9200" y="1620000"/>
            <a:ext cx="3348000" cy="30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환각 Hallucination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생성 AI는 그럴듯한 거짓을 자신 있게 말한다 — 나온 답은 반드시 원 자료로 확인하는 습관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41200" y="1620000"/>
            <a:ext cx="3708000" cy="3096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21200" y="1620000"/>
            <a:ext cx="3348000" cy="30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블랙박스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왜 그렇게 판단했는지 설명이 어렵다 — 중요한 결정(금융·의료)일수록 설명 가능성이 과제가 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데이터 분석가의 자세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결과를 의심하고 검증하는 습관 — 도구가 좋아질수록 이 습관이 사람의 일이 됩니다.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1주차 인공지능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마무리 · 따라 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나의 첫 노트 — 오늘을 기록으로 남기기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① 코드 셀에 인사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print 한 줄로 오늘의 시작을 기록한다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② 마크다운 셀에 정리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+ 코드 버튼 → 마크다운으로 바꾸고, 오늘 배운 용어 3개를 내 인공지능 사례와 함께 적는다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0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③ 내일의 나에게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관심 분야와 이 수업에서 해 보고 싶은 것 한 줄 — 15주 뒤에 다시 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4800" y="1602000"/>
            <a:ext cx="4802400" cy="266100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[5]: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2400" y="1929600"/>
            <a:ext cx="4356000" cy="153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print("2026 컴퓨터코딩 첫 걸음")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print("관심 분야:", "영화 추천")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# 마크다운 셀에는 이렇게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# ## 오늘 배운 세 가지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# 인공지능 · 머신러닝 · 라벨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42400" y="3426750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42400" y="3498750"/>
            <a:ext cx="4356000" cy="584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2026 컴퓨터코딩 첫 걸음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관심 분야: 영화 추천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제출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오늘은 제출물이 없습니다 — 노트북을 끝까지 실행하고, 토론 질문 하나에 나의 답을 적어 오면 충분합니다.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2026 컴퓨터코딩 · 1주차 인공지능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4000"/>
            <a:ext cx="36576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6400"/>
            <a:ext cx="10058400" cy="59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오늘의 핵심 다섯 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00000"/>
            <a:ext cx="777600" cy="54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600" b="1">
                <a:solidFill>
                  <a:srgbClr val="F0A202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8400" y="1782000"/>
            <a:ext cx="10242000" cy="77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인공지능 ⊃ 머신러닝 ⊃ 딥러닝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포함 관계로 기억 — 넓은 개념에서 좁은 기술로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18400" y="2552400"/>
            <a:ext cx="9784800" cy="0"/>
          </a:xfrm>
          <a:prstGeom prst="line">
            <a:avLst/>
          </a:prstGeom>
          <a:ln w="12096">
            <a:solidFill>
              <a:srgbClr val="1B3C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640600"/>
            <a:ext cx="777600" cy="54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600" b="1">
                <a:solidFill>
                  <a:srgbClr val="F0A202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8400" y="2622600"/>
            <a:ext cx="10242000" cy="77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규칙 vs 학습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사람이 규칙을 쓰느냐, 데이터가 규칙을 찾느냐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18400" y="3393000"/>
            <a:ext cx="9784800" cy="0"/>
          </a:xfrm>
          <a:prstGeom prst="line">
            <a:avLst/>
          </a:prstGeom>
          <a:ln w="12096">
            <a:solidFill>
              <a:srgbClr val="1B3C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3481200"/>
            <a:ext cx="777600" cy="54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600" b="1">
                <a:solidFill>
                  <a:srgbClr val="F0A202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8400" y="3463200"/>
            <a:ext cx="10242000" cy="77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지도 · 비지도 · 강화학습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정답(라벨)의 유무가 갈래 — 이 수업은 지도학습 중심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18400" y="4233600"/>
            <a:ext cx="9784800" cy="0"/>
          </a:xfrm>
          <a:prstGeom prst="line">
            <a:avLst/>
          </a:prstGeom>
          <a:ln w="12096">
            <a:solidFill>
              <a:srgbClr val="1B3C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4321800"/>
            <a:ext cx="777600" cy="54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600" b="1">
                <a:solidFill>
                  <a:srgbClr val="F0A202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8400" y="4303800"/>
            <a:ext cx="10242000" cy="77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데이터 · 특성 · 라벨 · 모델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데이터 분석의 기본 어휘 — 10주차 타이타닉까지 같이 간다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18400" y="5074200"/>
            <a:ext cx="9784800" cy="0"/>
          </a:xfrm>
          <a:prstGeom prst="line">
            <a:avLst/>
          </a:prstGeom>
          <a:ln w="12096">
            <a:solidFill>
              <a:srgbClr val="1B3C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5162400"/>
            <a:ext cx="777600" cy="54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600" b="1">
                <a:solidFill>
                  <a:srgbClr val="F0A202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8400" y="5144400"/>
            <a:ext cx="10242000" cy="77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분석 5단계: 질문→수집→정리→분석→답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이 수업의 지도 — 다음 주부터 매주 한 구간씩 걷는다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8400" y="6033600"/>
            <a:ext cx="9601200" cy="29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실습 노트북 완주 + 토론 질문 하나에 나의 답 적어 오기 — 오늘의 숙제는 이것이 전부입니다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2026 컴퓨터코딩 · 1주차 인공지능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200"/>
            <a:ext cx="5486400" cy="29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다음 주 예고 · 2주차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89600"/>
            <a:ext cx="10515600" cy="77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데이터 분석을 위한 SW 설치 및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39200"/>
            <a:ext cx="9601200" cy="36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5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구글 Colab과 내 컴퓨터 — 데이터 분석 환경을 한 번에 세팅합니다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384000"/>
            <a:ext cx="3708000" cy="1656000"/>
          </a:xfrm>
          <a:prstGeom prst="roundRect">
            <a:avLst/>
          </a:prstGeom>
          <a:solidFill>
            <a:srgbClr val="12283C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7200" y="3384000"/>
            <a:ext cx="3348000" cy="165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F0A202"/>
                </a:solidFill>
                <a:latin typeface="나눔고딕"/>
                <a:ea typeface="나눔고딕"/>
                <a:cs typeface="나눔고딕"/>
              </a:rPr>
              <a:t>Google Colab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설치 없이 브라우저에서 — 이번 주 방식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18000" y="3384000"/>
            <a:ext cx="3708000" cy="1656000"/>
          </a:xfrm>
          <a:prstGeom prst="roundRect">
            <a:avLst/>
          </a:prstGeom>
          <a:solidFill>
            <a:srgbClr val="12283C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8000" y="3384000"/>
            <a:ext cx="3348000" cy="165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F0A202"/>
                </a:solidFill>
                <a:latin typeface="나눔고딕"/>
                <a:ea typeface="나눔고딕"/>
                <a:cs typeface="나눔고딕"/>
              </a:rPr>
              <a:t>내 노트북(로컬)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파이썬 + VS Code 설치 — 오프라인 준비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200" y="2952000"/>
            <a:ext cx="3016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두 환경을 모두 준비합니다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50000" y="3384000"/>
            <a:ext cx="3200400" cy="1371600"/>
          </a:xfrm>
          <a:prstGeom prst="roundRect">
            <a:avLst/>
          </a:prstGeom>
          <a:solidFill>
            <a:srgbClr val="12283C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3600" y="3384000"/>
            <a:ext cx="28332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F0A202"/>
                </a:solidFill>
                <a:latin typeface="나눔고딕"/>
                <a:ea typeface="나눔고딕"/>
                <a:cs typeface="나눔고딕"/>
              </a:rPr>
              <a:t>준비물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① 오늘 실습 노트북 끝까지 완주하기  ② 구글 계정으로 Colab 접속해 두기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나눔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나눔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나눔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나눔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