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5주차 오리엔테이션. 오늘은 넘파이 배열(ndarray)을 만들고, 골라내고, 계산하고, 변형하는 흐름을 실습합니다. 실습 환경은 구글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목표 4가지를 읽어주고 오른쪽 흐름(만들기→선택→계산→변형)이 오늘 수업의 목차임을 알린다. 이 흐름은 곧 데이터 분석의 일반적인 절차이기도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1,000만 개 합계 실험: 반복문 약 0.22초 vs NumPy 0.009초. 느린 이유는 파이썬 인터프리터가 원소마다 객체를 다루기 때문. '빠르다'보다 '반복문 없이 쓴다'가 오늘의 핵심 문법이라고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강의계획서 지도: 6주차 판다스, 7주차 그래프, 11-14주차 머신러닝이 모두 넘파이 배열 위에서 동작. 오늘 자료가 반복 쓰인다는 동기 부여.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전원 Colab 접속 확인 후 같이 첫 셀 실행. 런타임 연결에 수 초 걸릴 수 있음을 안내. 노트북 파일은 LMS에 올려두고 '파일→노트 업로드'로 열어도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여기서부터는 학생이 Colab에서 같이 따라 친다. 노트북의 [따라 하기]와 같은 순서. 셀 마지막 줄에 변수명만 쓰면 repr으로 출력됨을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arange가 range와 달리 소수 간격도 가능하다는 것 정도만 언급. zeros/ones는 나중에 결과를 담을 '그릇'을 만들 때 쓴다고 미리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randn은 통계 수업과 연결되어 나중에 쓴다고 언급만. seed의 중요성(재현성)은 데이터 분석 전체에서 계속 등장하니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격자 그림과 shape을 매칭해서 읽게 한다. 3행 4열에서 (3, 4) 순서 = (행, 열). ndarray의 dim 개념은 겹의 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리스트는 자료형을 섞을 수 있었지만 배열은 안 됨(속도를 위한 설계). 분석에서 문자열로 바뀐 숫자는 골치 아픈 버그의 단골이므로 혼합 주의.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인덱스 0부터 시작, 음수 인덱스, 슬라이스 규칙은 리스트와 동일함을 확인. 새로운 것은 '뷰' 개념 — b를 바꾸면 a가 바뀌는 것을 직접 실행해서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콤마 앞=행, 뒤=열. ':'는 '그 방향 전체'. 격자와 노란 하이라이트를 보며 어떤 칸이 뽑히는지 입으로 말하게 해보기.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분석에서 가장 자주 쓰는 선택 도구. '점수가 80 이상인 것만 골라내기'를 마스크 개념으로 설명. and/or vs &amp;/| 실수는 정말 자주 나오는 버그.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팬시 인덱싱의 진짜 용도는 다음 장 argsort와의 조합. 여기서는 '리스트를 인덱스로 준다'와 '결과가 복사'라는 두 가지만.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리스트 [1,2,3]*3이 반복이라는 함정은 헷갈리는 지점. 배열에서는 원소별 계산. '반복문을 지우는 사고방식'이 오늘의 코어.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브로드캐스팅 용어는 라디오 방송 비유. 스칼라 확장은 이미 암묵적으로 써봤던 것(a+10). 배열끼리의 규칙은 다음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규칙은 끝자리(마지막 차원)부터 비교해 같거나 한쪽이 1이면 확장. 오류 메시지 'could not be broadcast together'를 읽을 줄 알게 해주기 — shape 불일치 에러의 90%.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axis는 넘파이 최대 난관. 'axis=0은 아래로, axis=1은 옆으로' 암기법 제시. 결과 개수(열별=4개, 행별=3개)로 검산하는 습관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-1 트릭은 '전체 개수는 아는데 한쪽 차원은 자동으로 맡기고 싶을 때' 자주 씀(머신러닝 입력 모양 맞추기 등). T는 2차원 표를 뒤집는 개념.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v/h가 vertical/horizontal임을 시각화와 연결. 여러 데이터 조각을 하나로 합칠 때 사용 — 다음 주 판다스 concat과 같은 발상.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sort와 argsort의 차이가 핵심: argsort는 '누가 몇 등인지' 인덱스를 반환. 시각화의 화살표 순서를 코드와 대응시켜 설명. 내림차순은 np.argsort(-score).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마지막 15분 통합 실습. 노트북의 '종합 예제' 섹션과 동일. 학생마다 다른 도시 데이터로 바꿔서 실행해 보도록 유도(자유 실습).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5가지 복창. 다음 주 판다스에서 배열 개념이 그대로 이어짐을 예고하며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 예고로 마무리. 준비물은 과제가 아니라 복습 안내(연습문제는 별도 구성 예정). 질문은 LMS 게시판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6400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63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데이터 분석 입문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넘파이 NumPy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분석의 기본기 — 배열(Array)로 데이터 다루기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5주차 / 15주차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71800" y="370332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7180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실험·실습 · PBL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370332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2064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환경 · Google Colab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3977640"/>
            <a:ext cx="3749040" cy="1922145"/>
          </a:xfrm>
          <a:prstGeom prst="roundRect">
            <a:avLst>
              <a:gd name="adj" fmla="val 3330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2843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55864" y="4306824"/>
            <a:ext cx="327355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 10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55864" y="5405628"/>
            <a:ext cx="3273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55864" y="5478780"/>
            <a:ext cx="3273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array([10, 20, 30])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1학기 · 강의자료 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오리엔테이션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학습 목표 — 배열로 데이터 다루기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6276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배열을 만든다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np.array · arange · zeros · random으로 ndarray를 만들고 shape·dtype으로 모양을 확인한다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80720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276148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데이터를 뽑는다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인덱싱 · 슬라이싱 · 불리언 마스크로 조건에 맞는 원소만 골라낸다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41064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895344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③ 한 번에 계산한다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벡터화 연산과 브로드캐스팅으로 반복문 없이 배열 전체를 계산한다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5065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50292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④ 모양을 바꾼다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reshape · 결합(vstack/hstack) · 정렬(sort/argsort)으로 분석에 맞게 변형한다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863840" y="1554480"/>
            <a:ext cx="3867912" cy="4572000"/>
          </a:xfrm>
          <a:prstGeom prst="roundRect">
            <a:avLst>
              <a:gd name="adj" fmla="val 2128"/>
            </a:avLst>
          </a:prstGeom>
          <a:solidFill>
            <a:srgbClr val="EDF4FA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183880" y="17830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흐름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83880" y="2322576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8388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68512" y="2231136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만들기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 · arange · random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348472" y="2651760"/>
            <a:ext cx="0" cy="475488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83880" y="3255264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18388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68512" y="3163824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선택하기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인덱싱 · 슬라이싱 · 마스크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48472" y="3584448"/>
            <a:ext cx="0" cy="475488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183880" y="418795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18388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68512" y="4096512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계산하기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벡터화 · 브로드캐스팅 · axis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348472" y="4517136"/>
            <a:ext cx="0" cy="475488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183880" y="512064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183880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68512" y="502920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변형하기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 · vstack · sort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· 왜 넘파이인가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리스트로 하면 느리고 불편하기 때문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느리다 → 빠르다</a:t>
            </a:r>
            <a:endParaRPr lang="en-US" sz="15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리스트는 원소를 하나씩 파이썬이 해석·처리 / 넘파이는 C로 구현된 코드가 데이터 덩어리째 계산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317296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불편하다 → 편하다</a:t>
            </a:r>
            <a:endParaRPr lang="en-US" sz="15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리스트끼리는 산술이 안 됨(곱하면 반복!) / 배열은 +, −, ×, ÷ 가 그대로 원소별 계산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654296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따로 놀지 않는다</a:t>
            </a:r>
            <a:endParaRPr lang="en-US" sz="15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판다스 · 맷플롯립 · 사이킷런 등 데이터 분석 도구가 모두 넘파이 배열을 기반으로 동작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760720" y="15727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1,000만 개 숫자의 합계에 걸린 시간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4736592"/>
            <a:ext cx="5669280" cy="0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55080" y="2313432"/>
            <a:ext cx="1207008" cy="2423160"/>
          </a:xfrm>
          <a:prstGeom prst="roundRect">
            <a:avLst>
              <a:gd name="adj" fmla="val 2273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035040" y="198424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0.220초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48097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 반복문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4318046"/>
            <a:ext cx="1207008" cy="418546"/>
          </a:xfrm>
          <a:prstGeom prst="roundRect">
            <a:avLst>
              <a:gd name="adj" fmla="val 6554"/>
            </a:avLst>
          </a:prstGeom>
          <a:solidFill>
            <a:srgbClr val="7FA8C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09560" y="398886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0.038초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09560" y="48097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 sum( 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104120" y="4637463"/>
            <a:ext cx="1207008" cy="99129"/>
          </a:xfrm>
          <a:prstGeom prst="roundRect">
            <a:avLst>
              <a:gd name="adj" fmla="val 27673"/>
            </a:avLst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784080" y="4308279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0.009초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0" y="48097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NumPy 벡터화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60720" y="513892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계산이 약 24배 — 반복문을 없애는 것이 곧 성능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54498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측정값(수업용 컴퓨터, Python 3.14 · NumPy 2.5) — 기기와 환경에 따라 수치는 다릅니다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· 넘파이의 위치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분석 생태계의 공통 기반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8288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판다스 pandas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6주차 — 표(DataFrame) 형태 데이터 분석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98848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81728" y="18288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맷플롯립 matplotlib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7주차 — 그래프 그리기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0456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03336" y="18288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사이킷런 scikit-learn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11–14주차 — 머신러닝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flipV="1">
            <a:off x="2377440" y="3090672"/>
            <a:ext cx="0" cy="1115568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flipV="1">
            <a:off x="6099048" y="3090672"/>
            <a:ext cx="0" cy="1115568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flipV="1">
            <a:off x="9820656" y="3090672"/>
            <a:ext cx="0" cy="1115568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148840" y="4297680"/>
            <a:ext cx="7891272" cy="914400"/>
          </a:xfrm>
          <a:prstGeom prst="roundRect">
            <a:avLst>
              <a:gd name="adj" fmla="val 8000"/>
            </a:avLst>
          </a:prstGeom>
          <a:solidFill>
            <a:srgbClr val="17406B"/>
          </a:solidFill>
          <a:ln/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331720" y="4297680"/>
            <a:ext cx="7525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ndarray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9DBE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가지 자료형의 다차원 배열 + 벡터화 연산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0" y="5623560"/>
            <a:ext cx="12188952" cy="603504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562356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 지금?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수업의 데이터 분석·머신러닝 주차는 전부 넘파이 위에서 출발합니다 — 오늘 배우는 배열 감각이 그대로 재활용됩니다.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준비 · 실습 환경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실습은 Google Colab에서 — 설치 없이 바로 시작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6642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접속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colab.research.google.com — 구글 계정으로 로그인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263347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 노트 만들기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파일 → 새 노트, 이름은 '5주차_넘파이 실습'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60273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입력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셀에 슬라이드/노트북의 코드를 한 줄씩 타이핑(또는 붙여넣기)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4608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5720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셀 안을 클릭하고 Shift + Enter (또는 ▶ 버튼)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03720" y="1600200"/>
            <a:ext cx="4800600" cy="1684020"/>
          </a:xfrm>
          <a:prstGeom prst="roundRect">
            <a:avLst>
              <a:gd name="adj" fmla="val 380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1403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[2]: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41464" y="1929384"/>
            <a:ext cx="432511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      # 별명 np로 부르기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print(np.__version__)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41464" y="2790063"/>
            <a:ext cx="43251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41464" y="2863215"/>
            <a:ext cx="432511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2.5.3   # 버전은 다를 수 있음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03720" y="3604260"/>
            <a:ext cx="4800600" cy="1207770"/>
          </a:xfrm>
          <a:prstGeom prst="roundRect">
            <a:avLst>
              <a:gd name="adj" fmla="val 5300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14032" y="36957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[3]: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41464" y="3933444"/>
            <a:ext cx="432511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NumPy!")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41464" y="4317873"/>
            <a:ext cx="43251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41464" y="4391025"/>
            <a:ext cx="432511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NumPy!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566928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7200" y="56692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Tip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NumPy는 Colab에 이미 설치되어 있습니다 — import만 하면 됩니다. 만든 노트는 구글 드라이브에 자동 저장됩니다.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리스트에서 출발 — np.array( 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np.array(리스트)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익숙한 파이썬 리스트를 넘파이 배열(ndarray)로 변환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중첩 리스트 → 2차원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 [행1], [행2] ] 처럼 감싸면 행×열 모양의 2차원 배열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가지 자료형만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 전체가 하나의 dtype을 가짐 — 자세히는 잠시 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5742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 = 2행 × 3열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138928"/>
            <a:ext cx="612648" cy="457200"/>
          </a:xfrm>
          <a:prstGeom prst="roundRect">
            <a:avLst>
              <a:gd name="adj" fmla="val 700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5138928"/>
            <a:ext cx="612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25296" y="5138928"/>
            <a:ext cx="612648" cy="457200"/>
          </a:xfrm>
          <a:prstGeom prst="roundRect">
            <a:avLst>
              <a:gd name="adj" fmla="val 700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25296" y="5138928"/>
            <a:ext cx="612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83664" y="5138928"/>
            <a:ext cx="612648" cy="457200"/>
          </a:xfrm>
          <a:prstGeom prst="roundRect">
            <a:avLst>
              <a:gd name="adj" fmla="val 700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83664" y="5138928"/>
            <a:ext cx="612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5641848"/>
            <a:ext cx="612648" cy="457200"/>
          </a:xfrm>
          <a:prstGeom prst="roundRect">
            <a:avLst>
              <a:gd name="adj" fmla="val 700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5641848"/>
            <a:ext cx="612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25296" y="5641848"/>
            <a:ext cx="612648" cy="457200"/>
          </a:xfrm>
          <a:prstGeom prst="roundRect">
            <a:avLst>
              <a:gd name="adj" fmla="val 700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25296" y="5641848"/>
            <a:ext cx="612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83664" y="5641848"/>
            <a:ext cx="612648" cy="457200"/>
          </a:xfrm>
          <a:prstGeom prst="roundRect">
            <a:avLst>
              <a:gd name="adj" fmla="val 700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883664" y="5641848"/>
            <a:ext cx="612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1554480"/>
            <a:ext cx="6629400" cy="1474470"/>
          </a:xfrm>
          <a:prstGeom prst="roundRect">
            <a:avLst>
              <a:gd name="adj" fmla="val 434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[4]: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12664" y="1883664"/>
            <a:ext cx="6153912" cy="56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           # print 없이 쓰면 결과가 표시됨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12664" y="2525268"/>
            <a:ext cx="6153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312664" y="2598420"/>
            <a:ext cx="6153912" cy="32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array([1, 2, 3])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74920" y="3321558"/>
            <a:ext cx="6629400" cy="1969770"/>
          </a:xfrm>
          <a:prstGeom prst="roundRect">
            <a:avLst>
              <a:gd name="adj" fmla="val 3250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285232" y="341299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[5]: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12664" y="3650742"/>
            <a:ext cx="6153912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np.array([[1, 2, 3],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[4, 5, 6]])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12664" y="4539996"/>
            <a:ext cx="6153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12664" y="4613148"/>
            <a:ext cx="6153912" cy="56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array([[1, 2, 3],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[4, 5, 6]])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자주 쓰는 배열 생성 함수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663440"/>
                <a:gridCol w="3383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함수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하는 일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결과 예시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np.arange(1, 10, 2)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1부터 10 전까지 2씩 (range의 배열판)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 3 5 7 9]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np.zeros((2, 3))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0으로 채운 배열 — 초기화·틀 만들기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2×3, 모두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np.ones((2, 2))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1로 채운 배열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2×2, 모두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np.full((2, 2), 7)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원하는 값으로 채운 배열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2×2, 모두 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np.linspace(0, 1, 5)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0부터 1까지 5개로 균등 분할 (끝 포함)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[0. 0.25 0.5 0.75 1.]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53212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57200" y="55321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암기 포인트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arange의 끝은 '미포함', linspace의 끝은 '포함' — 헷갈리기 쉬운 두 가지 규칙입니다.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무작위 데이터 만들기 — np.random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21792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[6]: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929384"/>
            <a:ext cx="574243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np.random.seed(42)        # 시드 고정: 재현 가능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np.random.rand(3)         # 0~1 실수 3개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551938"/>
            <a:ext cx="57424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625090"/>
            <a:ext cx="574243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array([0.37454012, 0.95071431, 0.73199394])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66135"/>
            <a:ext cx="6217920" cy="1684020"/>
          </a:xfrm>
          <a:prstGeom prst="roundRect">
            <a:avLst>
              <a:gd name="adj" fmla="val 380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3457575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[7]: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3695319"/>
            <a:ext cx="574243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np.random.randint(1, 7, size=(2, 3))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주사위 1~6을 2행×3열로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" y="4317873"/>
            <a:ext cx="57424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4944" y="4391025"/>
            <a:ext cx="574243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array([[5, 5, 2],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[3, 3, 3]])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86600" y="1691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rand(n)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0과 1 사이 균일한 실수 n개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086600" y="271576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randn(n)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표준정규분포(평균 0) 실수 n개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86600" y="3739896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randint(a, b, 크기)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 이상 b 미만 정수 — 예제 데이터·시뮬레이션 만들 때 유용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86600" y="4828032"/>
            <a:ext cx="4617720" cy="1170432"/>
          </a:xfrm>
          <a:prstGeom prst="roundRect">
            <a:avLst>
              <a:gd name="adj" fmla="val 6250"/>
            </a:avLst>
          </a:prstGeom>
          <a:solidFill>
            <a:srgbClr val="FDF3DD"/>
          </a:solidFill>
          <a:ln w="12700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69480" y="4828032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8A641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seed를 정하면 누구나 같은 난수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6B531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수업·과제에서 '내 결과 = 강사 결과'를 만드는 열쇠. 노트북 위쪽에 seed를 먼저 실행하는 습관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배열의 모양을 읽는 네 가지 속성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2960370"/>
          </a:xfrm>
          <a:prstGeom prst="roundRect">
            <a:avLst>
              <a:gd name="adj" fmla="val 2162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[8]: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83664"/>
            <a:ext cx="4370832" cy="131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np.arange(12).reshape(3, 4)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a.shape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a.ndim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a.size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a.dtype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" y="3268218"/>
            <a:ext cx="43708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3341370"/>
            <a:ext cx="4370832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dtype('int64')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645920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035040" y="1645920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24928" y="1645920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24928" y="1645920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14816" y="1645920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14816" y="1645920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204704" y="1645920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204704" y="1645920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249424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035040" y="2249424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24928" y="2249424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24928" y="2249424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4816" y="2249424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814816" y="2249424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204704" y="2249424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204704" y="2249424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2852928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035040" y="2852928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24928" y="2852928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424928" y="2852928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14816" y="2852928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14816" y="2852928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204704" y="2852928"/>
            <a:ext cx="1344168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204704" y="2852928"/>
            <a:ext cx="1344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35040" y="37033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498080" y="37033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   </a:t>
            </a:r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 3 × 열 4 — 모양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035040" y="42153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ndim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498080" y="421538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</a:t>
            </a:r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차원 (몇 겹인지)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035040" y="47274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498080" y="472744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원소의 총 개수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035040" y="52395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498080" y="523951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   </a:t>
            </a:r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원소의 자료형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0" y="5806440"/>
            <a:ext cx="12188952" cy="457200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습관 들이기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shape과 dtype은 데이터를 처음 만났을 때 확인하는 습관 — '이 데이터가 어떻게 생겼나?'가 분석의 출발점입니다.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배열은 '한 가지 자료형'만 담는다 — dtype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532120" cy="1922145"/>
          </a:xfrm>
          <a:prstGeom prst="roundRect">
            <a:avLst>
              <a:gd name="adj" fmla="val 3330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[9]: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929384"/>
            <a:ext cx="505663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a.dtype                # 정수 배열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a.astype(np.float64)   # 실수로 변환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790063"/>
            <a:ext cx="50566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863215"/>
            <a:ext cx="505663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dtype('int64')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array([1., 2., 3.])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650361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정수 int64와 실수 float64가 대표적 — astype으로 바꿔치기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44068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395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[10]: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01384" y="1929384"/>
            <a:ext cx="496519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np.array([1, 2, '삼'])   # 숫자+문자 혼합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01384" y="2551938"/>
            <a:ext cx="496519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01384" y="2625090"/>
            <a:ext cx="496519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array(['1', '2', '삼'], dtype='&lt;U21')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3640" y="3174111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숫자 1, 2까지 문자열로 바뀌어 버림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5486400"/>
            <a:ext cx="12188952" cy="621792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54864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40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정수와 실수가 섞이면 자동으로 float64 하나로 통일됩니다. 숫자와 문자열을 섞으면 전부 문자열이 되니 주의!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 · 데이터 선택하기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1차원 배열 — 인덱스와 슬라이스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943600" cy="2398395"/>
          </a:xfrm>
          <a:prstGeom prst="roundRect">
            <a:avLst>
              <a:gd name="adj" fmla="val 2669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600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[11]: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37944"/>
            <a:ext cx="5468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np.arange(1, 11)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a[0], a[-1]     # 첫 원소, 마지막 원소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a[2:5]          # 3번째부터 5번째 '전'까지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a[::2]          # 두 칸씩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936748"/>
            <a:ext cx="54681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3009900"/>
            <a:ext cx="546811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(1, 10)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 4 5]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 3 5 7 9]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1228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 2 3 4 5 6 7 8 9 10]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12280" y="196596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12280" y="196596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87768" y="196596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87768" y="196596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63256" y="196596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63256" y="196596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38744" y="196596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38744" y="196596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14232" y="196596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14232" y="196596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12280" y="246888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12280" y="246888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87768" y="246888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287768" y="246888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63256" y="246888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63256" y="246888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38744" y="246888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38744" y="246888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714232" y="2468880"/>
            <a:ext cx="429768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714232" y="246888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1228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노란 칸 = a[2:5] → [3 4 5]   (시작 포함 · 끝 미포함)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694944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7512" y="4206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[12]: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" y="4443984"/>
            <a:ext cx="647395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a[2:5]    # b는 a를 바라보는 '창(view)'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b[0] = 99     # b를 바꾸면 a도 함께 바뀜!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94944" y="5066538"/>
            <a:ext cx="64739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4944" y="5139690"/>
            <a:ext cx="64739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[ 1  2 99  4  5  6  7  8  9 10]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726680" y="4224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진짜 사본이 필요하면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a[2:5].copy()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5760720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40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슬라이스는 '복사'가 아니라 원본을 함께 보는 '뷰(view)' — 리스트의 슬라이스(복사)와 다른 점!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 · 데이터 선택하기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2차원 배열 — 행, 열을 쉼표로 구분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3112770"/>
          </a:xfrm>
          <a:prstGeom prst="roundRect">
            <a:avLst>
              <a:gd name="adj" fmla="val 205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[13]: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83664"/>
            <a:ext cx="4919472" cy="126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np.arange(12).reshape(3, 4)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m[1, 2]       # 2행 3열 (0부터 셈)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m[0]          # 첫 번째 행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m[:, 1]       # 두 번째 열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m[:2, 1:3]    # 행 0~1, 열 1~2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3220593"/>
            <a:ext cx="491947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3293745"/>
            <a:ext cx="4919472" cy="126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 1 2 3]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 5 9]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 2]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[5 6]]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057400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05740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43800" y="2057400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43800" y="205740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78240" y="2057400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78240" y="205740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12680" y="2057400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12680" y="205740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2679192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9360" y="267919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3800" y="2679192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43800" y="267919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78240" y="2679192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78240" y="267919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12680" y="2679192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012680" y="267919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3300984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09360" y="3300984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43800" y="3300984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543800" y="3300984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778240" y="3300984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778240" y="3300984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012680" y="3300984"/>
            <a:ext cx="118872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012680" y="3300984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m[:2, 1:3] — 노란 칸만 떼어 낸 결과 [[1, 2], [5, 6]]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30936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행(가로줄) 인덱스 ↓ · 열(세로줄) 인덱스 →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0" y="539496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539496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표기법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m[0][1] 처럼 두 번 접근해도 되지만, m[0, 1] 처럼 한 번에 쓰는 것이 넘파이다운 방식이고 빠릅니다. '행 먼저, 열 나중'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 · 데이터 선택하기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조건으로 골라내기 — 불리언 인덱싱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0" y="1627632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68880" y="16276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82112" y="1627632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82112" y="16276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95344" y="1627632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95344" y="16276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08576" y="1627632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08576" y="16276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21808" y="1627632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1808" y="16276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627632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35040" y="16276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48272" y="1627632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48272" y="16276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88920" y="2194560"/>
            <a:ext cx="0" cy="292608"/>
          </a:xfrm>
          <a:prstGeom prst="line">
            <a:avLst/>
          </a:prstGeom>
          <a:noFill/>
          <a:ln w="19050">
            <a:solidFill>
              <a:srgbClr val="8FA8B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2596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80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468880" y="2523744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468880" y="25237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82112" y="2523744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182112" y="25237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95344" y="2523744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895344" y="25237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08576" y="2523744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08576" y="25237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21808" y="2523744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321808" y="25237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2523744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035040" y="25237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48272" y="2523744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748272" y="25237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88920" y="3090672"/>
            <a:ext cx="0" cy="292608"/>
          </a:xfrm>
          <a:prstGeom prst="line">
            <a:avLst/>
          </a:prstGeom>
          <a:noFill/>
          <a:ln w="19050">
            <a:solidFill>
              <a:srgbClr val="8FA8B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3493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score[마스크]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468880" y="3419856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468880" y="341985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182112" y="3419856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182112" y="341985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895344" y="3419856"/>
            <a:ext cx="65836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895344" y="341985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8388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 = False, T = True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434840"/>
            <a:ext cx="603504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67512" y="4526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[14]: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" y="4764024"/>
            <a:ext cx="555955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np.array([78, 92, 65, 88, 54, 95, 71])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score[score &gt;= 80]     # 조건을 대괄호에!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94944" y="5386578"/>
            <a:ext cx="5559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94944" y="5459730"/>
            <a:ext cx="5559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array([92, 88, 95])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812280" y="4434840"/>
            <a:ext cx="4892040" cy="1207770"/>
          </a:xfrm>
          <a:prstGeom prst="roundRect">
            <a:avLst>
              <a:gd name="adj" fmla="val 5300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022592" y="4526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[15]: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50024" y="4764024"/>
            <a:ext cx="4416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score[(score &gt;= 70) &amp; (score &lt; 90)]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050024" y="5148453"/>
            <a:ext cx="4416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050024" y="5221605"/>
            <a:ext cx="4416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array([78, 88, 71])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0" y="5943600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40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문법 주의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 조합은 &amp; (그리고), | (또는) — 파이썬의 and/or가 아닙니다. 조건마다 괄호!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 · 데이터 선택하기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뽑고 싶은 번호를 나열 — 팬시 인덱싱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03504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[16]: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929384"/>
            <a:ext cx="555955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np.arange(10) * 10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a[[3, 1, 7]]      # 원하는 순서대로 추출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551938"/>
            <a:ext cx="5559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625090"/>
            <a:ext cx="5559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array([30, 10, 70])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6035040" cy="1922145"/>
          </a:xfrm>
          <a:prstGeom prst="roundRect">
            <a:avLst>
              <a:gd name="adj" fmla="val 3330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[17]: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3621024"/>
            <a:ext cx="555955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np.arange(12).reshape(3, 4)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m[[2, 0, 1]]      # 행 순서 바꾸기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" y="4243578"/>
            <a:ext cx="5559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4944" y="4316730"/>
            <a:ext cx="555955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[[ 8  9 10 11]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[ 0  1  2  3]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[ 4  5  6  7]]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2148840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49440" y="2148840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07808" y="2148840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07808" y="2148840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66176" y="2148840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66176" y="2148840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24544" y="2148840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924544" y="2148840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82912" y="2148840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582912" y="2148840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2679192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49440" y="2679192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07808" y="2679192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07808" y="2679192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66176" y="2679192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66176" y="2679192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24544" y="2679192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924544" y="2679192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582912" y="2679192"/>
            <a:ext cx="612648" cy="484632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582912" y="2679192"/>
            <a:ext cx="612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49440" y="3383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a[[3, 1, 7]] → 30, 10, 70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49440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중복·역순 모두 자유 — 결과는 항상 '새 배열(복사)'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0" y="5806440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슬라이스는 '연속된 구간', 팬시 인덱싱은 '제멋대로 나열'. 다음 sort·argsort와 합쳐지면 '정렬 순서대로 줄 세우기'가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· 배열로 계산하기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반복문 없이 한 번에 — 벡터화 연산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 리스트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5486400" cy="1684020"/>
          </a:xfrm>
          <a:prstGeom prst="roundRect">
            <a:avLst>
              <a:gd name="adj" fmla="val 380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[18]: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231136"/>
            <a:ext cx="501091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 * 3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+ [3, 4]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" y="2853690"/>
            <a:ext cx="5010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2926842"/>
            <a:ext cx="501091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1, 2, 3, 1, 2, 3]   # 반복!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   # 이어붙이기!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NumPy 배열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901952"/>
            <a:ext cx="5440680" cy="1684020"/>
          </a:xfrm>
          <a:prstGeom prst="roundRect">
            <a:avLst>
              <a:gd name="adj" fmla="val 380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73952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[19]: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01384" y="2231136"/>
            <a:ext cx="496519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np.array([1, 2, 3]) * 3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np.array([1, 2]) + np.array([3, 4])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01384" y="2853690"/>
            <a:ext cx="496519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01384" y="2926842"/>
            <a:ext cx="496519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array([3, 6, 9])   # 곱셈!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array([4, 6])      # 원소별 덧셈!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배열에 연산자를 쓰면 '원소별(element-wise)' 계산이 한 번에 일어난다</a:t>
            </a:r>
            <a:endParaRPr lang="en-US" sz="19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모양끼리면 + − × ÷ ** % 가 그대로 성립 — for 문을 쓰고 싶어질 때마다 '배열 연산으로 될까?'를 먼저 떠올리기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503920" y="3931920"/>
            <a:ext cx="3200400" cy="1169670"/>
          </a:xfrm>
          <a:prstGeom prst="roundRect">
            <a:avLst>
              <a:gd name="adj" fmla="val 5472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14232" y="4023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[20]: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41664" y="4261104"/>
            <a:ext cx="272491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np.sqrt(np.array([1, 4, 9]))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41664" y="4626483"/>
            <a:ext cx="2724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41664" y="4699635"/>
            <a:ext cx="272491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array([1., 2., 3.])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55321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수학 함수도 배열 통째로: np.sqrt · np.abs · np.round · np.exp …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· 배열로 계산하기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모양이 달라도 계산 — 브로드캐스팅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스칼라 1개가 전체로 '퍼짐'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 + 숫자 한 개 → 숫자가 모든 원소에 동시에 적용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실무 패턴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센서 값 전체에 보정치 더하기, 전 성적에 곡률 곱하기 등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4480560" cy="1417320"/>
          </a:xfrm>
          <a:prstGeom prst="roundRect">
            <a:avLst>
              <a:gd name="adj" fmla="val 451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4160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[21]: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439826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np.arange(4)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5001768"/>
            <a:ext cx="400507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4944" y="5074920"/>
            <a:ext cx="4005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array([10, 11, 12, 13])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2194560"/>
            <a:ext cx="0" cy="1737360"/>
          </a:xfrm>
          <a:prstGeom prst="line">
            <a:avLst/>
          </a:prstGeom>
          <a:noFill/>
          <a:ln w="22225">
            <a:solidFill>
              <a:srgbClr val="C4A24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79552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26480" y="2103120"/>
            <a:ext cx="795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67728" y="2103120"/>
            <a:ext cx="79552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67728" y="2103120"/>
            <a:ext cx="795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08976" y="2103120"/>
            <a:ext cx="79552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08976" y="2103120"/>
            <a:ext cx="795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50224" y="2103120"/>
            <a:ext cx="79552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50224" y="2103120"/>
            <a:ext cx="795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46920" y="292608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0A202"/>
          </a:solidFill>
          <a:ln w="12700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4692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+ 10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126480" y="3794760"/>
            <a:ext cx="795528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26480" y="3794760"/>
            <a:ext cx="795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67728" y="3794760"/>
            <a:ext cx="795528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3794760"/>
            <a:ext cx="795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808976" y="3794760"/>
            <a:ext cx="795528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808976" y="3794760"/>
            <a:ext cx="795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50224" y="3794760"/>
            <a:ext cx="795528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50224" y="3794760"/>
            <a:ext cx="795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0" y="4572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 하나(스칼라)가 4개 자리로 '방송(broadcast)'됩니다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5623560"/>
            <a:ext cx="12188952" cy="548640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브로드캐스팅 = '작은 쪽을 큰 쪽 모양에 맞춰 자동 복제 후 계산'. 다음 장에서 배열끼리의 규칙을 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· 배열로 계산하기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브로드캐스팅 규칙 — '끝자리 모양'끼리 맞춘다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5727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157276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83664" y="1572768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83664" y="15727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07792" y="157276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4992" y="1572768"/>
            <a:ext cx="960120" cy="512064"/>
          </a:xfrm>
          <a:prstGeom prst="roundRect">
            <a:avLst>
              <a:gd name="adj" fmla="val 8929"/>
            </a:avLst>
          </a:prstGeom>
          <a:solidFill>
            <a:srgbClr val="17406B"/>
          </a:solidFill>
          <a:ln w="9525">
            <a:solidFill>
              <a:srgbClr val="17406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64992" y="15727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1572768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1차원 (4,)가 각 행으로 복사돼 더해짐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41401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(3, 1)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81328" y="241401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83664" y="2414016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883664" y="241401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(1, 4)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907792" y="241401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64992" y="2414016"/>
            <a:ext cx="960120" cy="512064"/>
          </a:xfrm>
          <a:prstGeom prst="roundRect">
            <a:avLst>
              <a:gd name="adj" fmla="val 8929"/>
            </a:avLst>
          </a:prstGeom>
          <a:solidFill>
            <a:srgbClr val="17406B"/>
          </a:solidFill>
          <a:ln w="9525">
            <a:solidFill>
              <a:srgbClr val="1740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64992" y="241401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2414016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양쪽 모두 부족한 방향으로 확장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325526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481328" y="325526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883664" y="3255264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883664" y="325526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907792" y="325526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364992" y="3255264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64992" y="325526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오류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617720" y="325526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끝자리 3 ≠ 4, 어느 쪽도 1이 아니면 복제 불가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7200" y="4224528"/>
            <a:ext cx="6720840" cy="1874520"/>
          </a:xfrm>
          <a:prstGeom prst="roundRect">
            <a:avLst>
              <a:gd name="adj" fmla="val 3415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7512" y="4315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[22]: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" y="4553712"/>
            <a:ext cx="6245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np.arange(12).reshape(3, 4)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+ np.arange(4)              # (3,4)+(4,) → 각 행에 더함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" y="5157216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4944" y="5230368"/>
            <a:ext cx="6245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[[ 0  2  4  6]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[ 4  6  8 10]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[ 8 10 12 14]]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43800" y="4224528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754112" y="4315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[23]: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81544" y="4553712"/>
            <a:ext cx="3685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np.arange(3).reshape(3, 1)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np.arange(4)   # (3,1)+(1,4)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81544" y="5157216"/>
            <a:ext cx="36850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781544" y="5230368"/>
            <a:ext cx="36850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[[0 1 2 3]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 2 3 4]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[2 3 4 5]]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· 배열로 계산하기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집계 함수와 axis — 어느 방향으로 묶을까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71600" y="2286000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40864" y="2286000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40864" y="2286000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0128" y="2286000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10128" y="2286000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9392" y="2286000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79392" y="2286000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889504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71600" y="2889504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40864" y="2889504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340864" y="2889504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10128" y="2889504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10128" y="2889504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79392" y="2889504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79392" y="2889504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3493008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71600" y="3493008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340864" y="3493008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340864" y="3493008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10128" y="3493008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10128" y="3493008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79392" y="3493008"/>
            <a:ext cx="923544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279392" y="3493008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32688" y="2286000"/>
            <a:ext cx="0" cy="1810512"/>
          </a:xfrm>
          <a:prstGeom prst="line">
            <a:avLst/>
          </a:prstGeom>
          <a:noFill/>
          <a:ln w="25400">
            <a:solidFill>
              <a:srgbClr val="1740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 rot="16200000">
            <a:off x="256032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axis=0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371600" y="1883664"/>
            <a:ext cx="3877056" cy="0"/>
          </a:xfrm>
          <a:prstGeom prst="line">
            <a:avLst/>
          </a:prstGeom>
          <a:noFill/>
          <a:ln w="25400">
            <a:solidFill>
              <a:srgbClr val="C9890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2976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axis=1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axis=0 : 아래 방향으로 훑어 같은 열끼리 묶기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axis=1 : 옆 방향으로 훑어 같은 행끼리 묶기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806440" y="1691640"/>
            <a:ext cx="5897880" cy="2874645"/>
          </a:xfrm>
          <a:prstGeom prst="roundRect">
            <a:avLst>
              <a:gd name="adj" fmla="val 22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016752" y="1783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[24]: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44184" y="2020824"/>
            <a:ext cx="5422392" cy="126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np.arange(12).reshape(3, 4)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m.sum()          # 전체 합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m.sum(axis=0)    # 열별 합 (4개)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m.sum(axis=1)    # 행별 합 (3개)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m.mean(axis=1)   # 행별 평균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044184" y="3357753"/>
            <a:ext cx="542239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044184" y="3430905"/>
            <a:ext cx="542239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 15 18 21]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[ 6 22 38]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[1.5 5.5 9.5]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0" y="566928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56692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규칙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sum · mean · std · min · max 모두 같은 규칙. axis를 생략하면 전체를 하나로 묶습니다. 헷갈리면 '결과 개수'로 확인 — 열별이면 4개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 · 배열 변형하기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모양 바꾸기 — reshape과 전치(.T)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83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0부터 11까지 12개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15568" y="21945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15568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64208" y="21945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664208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12848" y="21945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12848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61488" y="21945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61488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1945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10128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26517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5568" y="26517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15568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64208" y="26517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664208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12848" y="26517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212848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61488" y="26517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761488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0128" y="2651760"/>
            <a:ext cx="50292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310128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reshape(3, 4)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21488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09360" y="21488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21424" y="21488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821424" y="21488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33488" y="21488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33488" y="21488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45552" y="21488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845552" y="21488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26060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309360" y="26060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21424" y="26060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821424" y="26060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33488" y="26060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333488" y="26060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845552" y="26060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845552" y="26060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09360" y="30632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309360" y="30632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21424" y="30632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821424" y="30632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33488" y="30632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333488" y="30632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845552" y="3063240"/>
            <a:ext cx="46634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845552" y="306324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54964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reshape(4, 3)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561320" y="2148840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0561320" y="2148840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1036808" y="2148840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1036808" y="2148840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512296" y="2148840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1512296" y="2148840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561320" y="2551176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0561320" y="2551176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1036808" y="2551176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11036808" y="2551176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1512296" y="2551176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1512296" y="2551176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561320" y="2953512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0561320" y="2953512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1036808" y="2953512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11036808" y="2953512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1512296" y="2953512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11512296" y="2953512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0561320" y="3355848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10561320" y="3355848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1036808" y="3355848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1036808" y="3355848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1512296" y="3355848"/>
            <a:ext cx="42976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11512296" y="3355848"/>
            <a:ext cx="429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66928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데이터 12개, 모양만 변경 — 원소 순서는 '행 우선'으로 다시 채워짐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457200" y="4617720"/>
            <a:ext cx="6675120" cy="1519428"/>
          </a:xfrm>
          <a:prstGeom prst="roundRect">
            <a:avLst>
              <a:gd name="adj" fmla="val 4213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67512" y="4709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[25]: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94944" y="4946904"/>
            <a:ext cx="619963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np.arange(12)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a.reshape(3, 4).shape     # (3, 4)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a.reshape(2, -1).shape    # (2, 6) — -1은 '남은 만큼 알아서'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a.reshape(3, 4).T.shape   # (4, 3) — 행·열 맞바꿈(전치)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7589520" y="47091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size가 같아야만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reshape 가능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12개짜리를 reshape(5, 4)로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바꾸려 하면 에러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 · 배열 변형하기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 붙이기 — vstack · hstack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vstack — 세로로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2588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2588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7452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87452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2588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2588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7452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87452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28529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28529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25880" y="28529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325880" y="28529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74520" y="28529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874520" y="28529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32735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" y="32735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25880" y="32735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325880" y="32735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874520" y="32735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2331720"/>
            <a:ext cx="502920" cy="0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29184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29184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4048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84048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8912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38912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9184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29184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84048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84048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8912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38912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91840" y="277977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291840" y="277977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840480" y="277977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840480" y="277977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389120" y="277977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389120" y="277977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91840" y="3200400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291840" y="3200400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840480" y="3200400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840480" y="3200400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389120" y="3200400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389120" y="3200400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53796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hstack — 가로로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653796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53796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08660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08660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63524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63524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53796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53796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08660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08660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63524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63524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27532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7532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82396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82396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9372600" y="1938528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9372600" y="1938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27532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27532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82396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882396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9372600" y="235915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9372600" y="235915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9692640" y="2331720"/>
            <a:ext cx="0" cy="502920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6537960" y="290779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537960" y="290779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086600" y="290779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7086600" y="290779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635240" y="290779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7635240" y="290779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8183880" y="290779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183880" y="290779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8732520" y="290779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8732520" y="290779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9281160" y="2907792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9281160" y="290779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537960" y="332841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6537960" y="332841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7086600" y="332841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7086600" y="332841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7635240" y="332841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7635240" y="332841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8183880" y="332841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8183880" y="332841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8732520" y="332841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8732520" y="332841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9281160" y="3328416"/>
            <a:ext cx="502920" cy="374904"/>
          </a:xfrm>
          <a:prstGeom prst="roundRect">
            <a:avLst>
              <a:gd name="adj" fmla="val 8537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9281160" y="332841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457200" y="3977640"/>
            <a:ext cx="6720840" cy="1519428"/>
          </a:xfrm>
          <a:prstGeom prst="roundRect">
            <a:avLst>
              <a:gd name="adj" fmla="val 4213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66751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[26]: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694944" y="4306824"/>
            <a:ext cx="624535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np.arange(6).reshape(2, 3)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np.full((2, 3), 7)     # 7로 채운 2×3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np.vstack([a, b]).shape    # (4, 3) — 아래로 이어붙이기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np.hstack([a, b]).shape    # (2, 6) — 옆으로 이어붙이기</a:t>
            </a:r>
            <a:endParaRPr lang="en-US" sz="1250" dirty="0"/>
          </a:p>
        </p:txBody>
      </p:sp>
      <p:sp>
        <p:nvSpPr>
          <p:cNvPr id="109" name="Text 107"/>
          <p:cNvSpPr/>
          <p:nvPr/>
        </p:nvSpPr>
        <p:spPr>
          <a:xfrm>
            <a:off x="7589520" y="41148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v는 vertical(세로),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h는 horizontal(가로)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묶을 배열들을 리스트로 넘깁니다.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나누기는 np.vsplit / np.hsplit — 필요할 때 찾아서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 · 배열 변형하기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정렬 — sort와 argsort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57860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600200" y="2578608"/>
            <a:ext cx="73152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00200" y="257860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86584" y="2103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386584" y="2578608"/>
            <a:ext cx="73152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386584" y="257860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103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박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172968" y="2578608"/>
            <a:ext cx="73152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72968" y="257860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59352" y="2103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59352" y="2578608"/>
            <a:ext cx="73152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59352" y="257860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45736" y="2103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45736" y="2578608"/>
            <a:ext cx="73152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45736" y="257860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965960" y="3054096"/>
            <a:ext cx="0" cy="310896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6928" y="34564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argsort → 낮은 점수 순서:  최(61) → 이(72) → 정(84) → 김(88) → 박(95)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6720840" cy="2103120"/>
          </a:xfrm>
          <a:prstGeom prst="roundRect">
            <a:avLst>
              <a:gd name="adj" fmla="val 3043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51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[27]: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" y="4306824"/>
            <a:ext cx="6245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= np.array(['김', '이', '박', '최', '정'])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np.array([88, 72, 95, 61, 84])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np.argsort(score)        # '순서'를 담은 인덱스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name[np.argsort(score)]  # 팬시 인덱싱으로 이름 재배열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" y="5367528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4944" y="5440680"/>
            <a:ext cx="6245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 1 4 0 2]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['최' '이' '정' '김' '박']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41148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argsort + 팬시 인덱싱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'점수 순서대로 다른 배열을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줄 세우는' 데이터 분석 단골 패턴.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np.sort(score)는 값 자체를 정렬.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마무리 · 따라 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주의 기온 데이터로 오늘 배운 것 전부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720840" cy="3246120"/>
          </a:xfrm>
          <a:prstGeom prst="roundRect">
            <a:avLst>
              <a:gd name="adj" fmla="val 1972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600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[28]: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37944"/>
            <a:ext cx="624535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= np.array([18.5, 19.2, 21.0, 19.8, 22.3, 21.5, 23.4])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= np.array([ 9.2, 10.1, 12.0, 11.4, 13.1, 12.8, 14.0])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= np.array(['월', '화', '수', '목', '금', '토', '일'])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일교차 = high - low                    # 벡터화: 반복문 없이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np.round(high.mean(), 1)               # 주간 평균 기온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high.max(), days[high.argmax()]        # 최고 기온 + 요일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days[np.argsort(-high)]                # 높은 순서대로 요일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3813048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3886200"/>
            <a:ext cx="6245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20.8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(23.4, '일')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['일' '금' '토' '수' '목' '화' '월']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17406B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818120" y="162763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20.8℃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BE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주간 평균 기온 — mean()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589520" y="2724912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18120" y="2798064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23.4℃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최고 기온(일) — max() · argmax()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589520" y="3895344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18120" y="3968496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9.4℃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가장 큰 일교차 — 벡터화 뺄셈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0" y="5623560"/>
            <a:ext cx="12188952" cy="621792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562356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만들기(np.array) → 계산(평균·일교차) → 선택(argmax·argsort) — 이 흐름이 6주차 판다스 분석의 뼈대가 됩니다. 실습 노트북에서 그대로 다시 실행해 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핵심 다섯 가지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ndarray는 '한 가지 자료형'의 다차원 배열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shape · dtype이 배열의 기본 신원 정보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417320" y="2551176"/>
            <a:ext cx="978408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26426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262432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만들기: np.array · arange · zeros · linspace · random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seed를 고정하면 결과를 재현할 수 있다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417320" y="3392424"/>
            <a:ext cx="978408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348386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34655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선택: 인덱싱 · 슬라이싱(뷰!) · 불리언 마스크 · 팬시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 선택은 &amp; 와 | 로 조합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417320" y="4233672"/>
            <a:ext cx="978408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4325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17320" y="430682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계산: 벡터화 + 브로드캐스팅 + axis 집계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반복문을 지우는 것이 넘파이식 사고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417320" y="5074920"/>
            <a:ext cx="978408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51663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17320" y="514807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변형: reshape(-1) · vstack/hstack · sort/argsort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argsort + 팬시 인덱싱은 정렬 단골 패턴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17320" y="6035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노트북의 '따라 하기'를 처음부터 다시 실행해 보면 오늘 내용이 정리됩니다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5주차 넘파이(NumPy)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주 예고 · 6주차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판다스(Pandas) — 표로 다루는 데이터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배열에 행·열 이름을 얹은 DataFrame으로 엑셀 같은 표 데이터를 분석합니다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463040" y="3246120"/>
            <a:ext cx="55778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63040" y="3246120"/>
            <a:ext cx="55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66544" y="3246120"/>
            <a:ext cx="55778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66544" y="3246120"/>
            <a:ext cx="55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70048" y="3246120"/>
            <a:ext cx="55778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70048" y="3246120"/>
            <a:ext cx="55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463040" y="3703320"/>
            <a:ext cx="55778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63040" y="3703320"/>
            <a:ext cx="55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66544" y="3703320"/>
            <a:ext cx="55778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66544" y="3703320"/>
            <a:ext cx="55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70048" y="3703320"/>
            <a:ext cx="557784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70048" y="3703320"/>
            <a:ext cx="55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ndarray — 이름 없는 숫자 덩어리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657600"/>
            <a:ext cx="777240" cy="0"/>
          </a:xfrm>
          <a:prstGeom prst="line">
            <a:avLst/>
          </a:prstGeom>
          <a:noFill/>
          <a:ln w="25400">
            <a:solidFill>
              <a:srgbClr val="F0A20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06908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A20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+ 행·열 이름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324612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406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24612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60920" y="324612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6092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0680" y="3749040"/>
            <a:ext cx="91440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40680" y="37490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3749040"/>
            <a:ext cx="91440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37490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0920" y="3749040"/>
            <a:ext cx="91440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360920" y="37490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40680" y="4206240"/>
            <a:ext cx="91440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40680" y="4206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0" y="4206240"/>
            <a:ext cx="91440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0800" y="4206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19.2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60920" y="4206240"/>
            <a:ext cx="91440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360920" y="4206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2120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DataFrame — 이름 있는 표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549640" y="3383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0A20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준비물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오늘 실습 노트북 끝까지 완주하기  ② Colab에서 노트 새로 만들고 실행해 보기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나눔고딕"/>
        <a:ea typeface=""/>
        <a:cs typeface=""/>
        <a:font script="Jpan" typeface="游ゴシック Light"/>
        <a:font script="Hang" typeface="나눔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고딕"/>
        <a:ea typeface=""/>
        <a:cs typeface=""/>
        <a:font script="Jpan" typeface="游ゴシック"/>
        <a:font script="Hang" typeface="나눔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5주차 넘파이(NumPy)</dc:title>
  <dc:subject>PptxGenJS Presentation</dc:subject>
  <dc:creator>2026 컴퓨터코딩</dc:creator>
  <cp:lastModifiedBy>2026 컴퓨터코딩</cp:lastModifiedBy>
  <cp:revision>1</cp:revision>
  <dcterms:created xsi:type="dcterms:W3CDTF">2026-09-30T04:20:44Z</dcterms:created>
  <dcterms:modified xsi:type="dcterms:W3CDTF">2026-09-30T04:20:44Z</dcterms:modified>
</cp:coreProperties>
</file>