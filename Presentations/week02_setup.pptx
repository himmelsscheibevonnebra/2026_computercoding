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2주차 오리엔테이션. 개발환경 준비 — 오늘의 흐름을 소개하고 Colab 실습으로 진행한다.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도구를 다루는 주. 문법은 아직. 두 환경(Colab/로컬)을 모두 세팅하고 노트북 사용법을 익힌다.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1주차의 Colab 한 줄 실행에서 오늘의 "환경 전체"로 확장. 도구가 준비되어야 데이터가 다뤄진다는 메시지.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표로 두 환경을 대비. 결론: 수업 기본은 Colab, 과제·오프라인은 로컬. 둘 다 준비.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1주차에 실행만 해 봤다면 오늘은 셀 구조와 파일 관리까지. 라이브 데모 병행 권장.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마크다운 셀로 기록하는 습관 — 1주차에 시작한 노트를 오늘부터 제대로. 자주 쓰는 문법 3개만.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파일 명명 규칙을 통일해 두면 채점이 쉬움. 파일 이름 규칙을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단축키 3개만 외우게 한다. 그 외는 필요할 때 소개.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로컬 설치 진행. 설치는 수업 시간에 라이브로 따라 하되, 실패해도 Colab이 기본 무대라는 안심 문구.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VS Code는 "코드를 편하게 쓰는 집" 비유. 확장(Extension)에서 Python 설치 한 번만.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개념만 — 명령어 외우게 하지 않음. "프로젝트별 독립 서랍" 비유로 충분. 실무 연결 한 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터미널 명령 2개로 설치 점검. 터미널 어렵게 생각하지 말라고 — 복붙으로도 충분.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 = 파이썬 패키지 관리자. 넘파이·판다스가 곧 pip로 설치할 도구라는 예고. Colab은 이미 설치됨.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.ipynb = I Python Notebook. 셀들의 모임이라는 개념만 — 매주 쓰는 파일이니 친해지기.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노트북 week02와 연결되는 핵심 실습. 체크리스트를 완성하는 것이 오늘의 산출물.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Colab과 로컬에서 같은 코드가 같은 결과를 내는 것을 라이브로 보여 준다. "환경이 달라도 코드는 같다".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PBL OX 퀴즈. 정답: X/설치불필요, O/pip, X/.ipynb, O/드라이브 자동. 근거 말하기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학생들이 가장 많이 부딪히는 문제 3가지. 해결책을 함께 외치게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노트북 week02 진행 방식 안내. 이번 주 노트북은 문법이 없어 부담이 낮음 — 환경 점검이 본문.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씨 뿌리기 토론. 정답 없음 — 15분 토론 후 한 줄씩 공유. 다음 주 파이썬 문법으로의 동기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3주차 예고. 아직 문법을 배우지 않았지만 "이 정도가 가능해진다"는 미리보기로 동기 부여.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핵심을 학생 말로 다시 말하게 하고 마친다.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3주차 예고: 변수·연산자·조건문·반복문. 노트북 week03 진행.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5200" y="640800"/>
            <a:ext cx="4572000" cy="329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0" b="1">
                <a:solidFill>
                  <a:srgbClr val="16354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4400" y="1418400"/>
            <a:ext cx="7315200" cy="32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 컴퓨터코딩 · 데이터 분석 입문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600" y="1828800"/>
            <a:ext cx="74988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540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개발환경 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4400" y="2926800"/>
            <a:ext cx="6948000" cy="41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Colab과 내 컴퓨터 — 데이터 분석 환경 세팅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4400" y="3704400"/>
            <a:ext cx="2012400" cy="421200"/>
          </a:xfrm>
          <a:prstGeom prst="roundRect">
            <a:avLst/>
          </a:prstGeom>
          <a:solidFill>
            <a:srgbClr val="173650"/>
          </a:solidFill>
          <a:ln w="12096">
            <a:solidFill>
              <a:srgbClr val="27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4400" y="3704400"/>
            <a:ext cx="2012400" cy="42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2주차 / 15주차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3600" y="3704400"/>
            <a:ext cx="2012400" cy="421200"/>
          </a:xfrm>
          <a:prstGeom prst="roundRect">
            <a:avLst/>
          </a:prstGeom>
          <a:solidFill>
            <a:srgbClr val="173650"/>
          </a:solidFill>
          <a:ln w="12096">
            <a:solidFill>
              <a:srgbClr val="27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3600" y="3704400"/>
            <a:ext cx="2012400" cy="42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실험·실습 · PBL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2800" y="3704400"/>
            <a:ext cx="2012400" cy="421200"/>
          </a:xfrm>
          <a:prstGeom prst="roundRect">
            <a:avLst/>
          </a:prstGeom>
          <a:solidFill>
            <a:srgbClr val="173650"/>
          </a:solidFill>
          <a:ln w="12096">
            <a:solidFill>
              <a:srgbClr val="27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2800" y="3704400"/>
            <a:ext cx="2012400" cy="42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실습 환경 · Google Colab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9200" y="3978000"/>
            <a:ext cx="3747600" cy="15876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000" y="4068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6800" y="4305600"/>
            <a:ext cx="32724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import sys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sys.version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56800" y="4849200"/>
            <a:ext cx="32724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56800" y="4921200"/>
            <a:ext cx="3272400" cy="3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3.12.6 (main, Aug 6 2026) 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00" y="5990400"/>
            <a:ext cx="4572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2026년 1학기 · 강의자료 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오리엔테이션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오늘의 학습 목표 — 환경을 세팅하고 도구를 읽는다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74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6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8400" y="1638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① Colab을 자유롭게 다룬다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셀 실행·마크다운 메모·노트북 파일 관리까지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08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00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400" y="2772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② 내 컴퓨터에 파이썬과 VS Code를 설치한다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오프라인에서도 같은 코드가 돌아가는 환경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94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3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0" y="3906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③ pip와 패키지 개념을 이해한다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앞으로 쓸 넘파이·판다스가 어떻게 설치되는지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076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68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400" y="5040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④ 문제가 생기면 스스로 진단한다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버전 확인과 오류 메시지 읽기가 디버깅의 시작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2400" y="1555200"/>
            <a:ext cx="3866400" cy="45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2800" y="1782000"/>
            <a:ext cx="3225600" cy="32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오늘의 흐름</a:t>
            </a:r>
          </a:p>
        </p:txBody>
      </p:sp>
      <p:sp>
        <p:nvSpPr>
          <p:cNvPr id="20" name="Oval 19"/>
          <p:cNvSpPr/>
          <p:nvPr/>
        </p:nvSpPr>
        <p:spPr>
          <a:xfrm>
            <a:off x="8182800" y="232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2800" y="231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800" y="22320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두 환경 비교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Colab vs 내 컴퓨터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48400" y="2656800"/>
            <a:ext cx="0" cy="475200"/>
          </a:xfrm>
          <a:prstGeom prst="line">
            <a:avLst/>
          </a:prstGeom>
          <a:ln w="20161">
            <a:solidFill>
              <a:srgbClr val="C9D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182800" y="32544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2800" y="32472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800" y="31644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Colab 심화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셀 · 마크다운 · 파일 관리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48400" y="3589200"/>
            <a:ext cx="0" cy="475200"/>
          </a:xfrm>
          <a:prstGeom prst="line">
            <a:avLst/>
          </a:prstGeom>
          <a:ln w="20161">
            <a:solidFill>
              <a:srgbClr val="C9D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182800" y="41868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2800" y="41796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800" y="40968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로컬 설치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파이썬 · VS Code · 확인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48400" y="4521600"/>
            <a:ext cx="0" cy="475200"/>
          </a:xfrm>
          <a:prstGeom prst="line">
            <a:avLst/>
          </a:prstGeom>
          <a:ln w="20161">
            <a:solidFill>
              <a:srgbClr val="C9D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182800" y="51192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2800" y="51120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800" y="50292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도구 미리 보기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pip · 노트북 구조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도입 · 왜 개발 환경인가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코드가 돌아가려면 무대가 필요하다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작년 주차의 우리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Colab에서 print 한 줄 — 인공지능의 감각만 확인했다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이제는 매주 실습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데이터를 만들고, 계산하고, 그리는 코드가 늘어난다 — 무대가 필요한 시기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두 개의 무대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인터넷만 있으면 되는 Colab + 내 컴퓨터에 설치하는 로컬 환경 — 둘 다 쓴다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오늘의 목표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수업이 끝나면 "어디서든 파이썬 코드를 실행할 수 있는 상태"가 됩니다. 그것이 오늘의 전부입니다.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도입 · 두 개의 무대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Google Colab vs 내 컴퓨터 — 무엇이 다를까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20000"/>
          <a:ext cx="11246400" cy="31140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880000"/>
                <a:gridCol w="4284000"/>
                <a:gridCol w="4082400"/>
              </a:tblGrid>
              <a:tr h="41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항목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Google Colab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내 컴퓨터 (로컬)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설치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불필요 — 브라우저만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파이썬 + VS Code 설치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인터넷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필요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없어도 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실행 속도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구글 서버가 계산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내 컴퓨터가 계산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파일 보관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구글 드라이브 자동 저장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내 하드디스크에 저장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이 수업에서의 역할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수업·실습 기본 무대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과제·오프라인 연습 무대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52560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560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결론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둘 다 씁니다 — 수업 중에는 Colab, 집에서는 내 컴퓨터. 같은 코드가 두 무대에서 똑같이 돌아갑니다.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1 · Colab 익숙해지기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노트북의 구조 — 셀(cell)의 모임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코드 셀과 마크다운 셀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코드는 실행되는 셀, 마크다운은 메모를 남기는 셀 — + 코드 / + 텍스트 버튼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실행은 Shift + Enter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현재 셀을 실행하고 다음 셀로 이동 — 위에서부터 순서대로 실행해야 결과가 이어진다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파일 관리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노트북 이름 바꾸기 · 구글 드라이브 자동 저장 · 다운로드(.ipynb) — 매주 제출은 이 파일로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규칙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노트북은 항상 위에서부터 차례로 실행합니다. 중간 셀만 골라 실행하면 결과가 꼬입니다.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1 · Colab 익숙해지기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마크다운 셀 — 코드 옆에 메모를 남긴다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6000"/>
            <a:ext cx="5508000" cy="93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56000"/>
            <a:ext cx="5148000" cy="93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17406B"/>
                </a:solidFill>
                <a:latin typeface="Consolas"/>
                <a:ea typeface="Consolas"/>
                <a:cs typeface="Consolas"/>
              </a:rPr>
              <a:t># 제목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가장 큰 제목 — ##, ### 으로 크기 조절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36000"/>
            <a:ext cx="5508000" cy="93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200" y="2736000"/>
            <a:ext cx="5148000" cy="93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17406B"/>
                </a:solidFill>
                <a:latin typeface="Consolas"/>
                <a:ea typeface="Consolas"/>
                <a:cs typeface="Consolas"/>
              </a:rPr>
              <a:t>- 목록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가운뎃점 목록 — 정리할 때 유용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16000"/>
            <a:ext cx="5508000" cy="93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" y="3816000"/>
            <a:ext cx="5148000" cy="93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17406B"/>
                </a:solidFill>
                <a:latin typeface="Consolas"/>
                <a:ea typeface="Consolas"/>
                <a:cs typeface="Consolas"/>
              </a:rPr>
              <a:t>**굵게**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강조 — 핵심 용어에 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4800" y="1602000"/>
            <a:ext cx="4802400" cy="139477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텍스트 셀: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2400" y="1929600"/>
            <a:ext cx="4356000" cy="8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# ## 2주차 오늘의 기록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# - Colab 셀 실행 방법: Shift+Enter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# - **마크다운**은 메모 셀이다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3600" y="3312000"/>
            <a:ext cx="43236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↑ 텍스트 셀에 입력한 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습관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매주 노트북 마지막 "오늘의 정리"를 마크다운으로 직접 써 보세요 — 15주 뒤 최고의 복습 자료가 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1 · Colab 익숙해지기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노트북 파일 관리 — 이름 · 저장 · 제출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10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2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8400" y="1674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이름 바꾸기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제목 클릭 → "3주차_문법 실습"처럼 주차를 밝힌다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8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7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400" y="2646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자동 저장 확인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구글 드라이브 → 내 드라이브 → Colab Notebooks 폴더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654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46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0" y="3618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다운로드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파일 → 다운로드 → .ipynb 다운로드 — 제출용 파일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626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18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400" y="4590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다시 열기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드라이브에서 더블클릭 또는 Colab에서 파일 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4800" y="1602000"/>
            <a:ext cx="4802400" cy="338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4800" y="1602000"/>
            <a:ext cx="4442400" cy="33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파일 이름 규칙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0">
                <a:solidFill>
                  <a:srgbClr val="1E2A36"/>
                </a:solidFill>
                <a:latin typeface="Consolas"/>
                <a:ea typeface="Consolas"/>
                <a:cs typeface="Consolas"/>
              </a:rPr>
              <a:t>주차_주제 실습.ipynb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예시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· 1주차_인공지능개요 실습.ipynb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· 2주차_개발환경 실습.ipynb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제출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과제 제출은 .ipynb 파일로 합니다. 실행된 결과가 남아 있어야 채점이 됩니다 — 실행 후 저장!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1 · Colab 익숙해지기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이것만은 외우자 — 단축키 세 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6000"/>
            <a:ext cx="5508000" cy="9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56000"/>
            <a:ext cx="5148000" cy="9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17406B"/>
                </a:solidFill>
                <a:latin typeface="Consolas"/>
                <a:ea typeface="Consolas"/>
                <a:cs typeface="Consolas"/>
              </a:rPr>
              <a:t>Shift + Enter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현재 셀 실행 + 다음 셀로 이동 — 가장 많이 쓴다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72000"/>
            <a:ext cx="5508000" cy="9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200" y="2772000"/>
            <a:ext cx="5148000" cy="9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17406B"/>
                </a:solidFill>
                <a:latin typeface="Consolas"/>
                <a:ea typeface="Consolas"/>
                <a:cs typeface="Consolas"/>
              </a:rPr>
              <a:t>Ctrl + M B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아래에 새 코드 셀 추가 (Mac은 ⌘ + M 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88000"/>
            <a:ext cx="5508000" cy="9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" y="3888000"/>
            <a:ext cx="5148000" cy="9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17406B"/>
                </a:solidFill>
                <a:latin typeface="Consolas"/>
                <a:ea typeface="Consolas"/>
                <a:cs typeface="Consolas"/>
              </a:rPr>
              <a:t>Ctrl + M 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셀 삭제 (실수하면 복구 가능하지만 조심)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4800" y="1602000"/>
            <a:ext cx="4802400" cy="199425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2400" y="1929600"/>
            <a:ext cx="4356000" cy="109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# 실행 순서의 중요성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a = 10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a = a + 5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a              # 15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42400" y="298860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42400" y="3060600"/>
            <a:ext cx="4356000" cy="355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3600" y="3654000"/>
            <a:ext cx="43236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a를 두 번 더하면? — 위에서부터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Tip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실행 버튼 ▶도 좋지만 Shift + Enter가 결국 손에 붙습니다. 오늘부터 이것만 씁니다.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2 · 내 컴퓨터에 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파이썬 설치 — python.org에서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10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2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8400" y="1674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다운로드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python.org/downloads — 운영체제에 맞는 최신 버전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8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7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400" y="2646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설치 시 주의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Windows: "Add python.exe to PATH" 반드시 체크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654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46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0" y="3618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macOS 안내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설치 파일 실행 → 지시에 따라 완료 — 별도 설정 없음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626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18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400" y="4590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설치 확인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터미널(명령 프롬프트)에서 python --version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4800" y="1602000"/>
            <a:ext cx="4802400" cy="12513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터미널: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2400" y="1929600"/>
            <a:ext cx="4356000" cy="355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$ python --version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42400" y="224565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42400" y="2317650"/>
            <a:ext cx="4356000" cy="355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Python 3.12.6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3600" y="2916000"/>
            <a:ext cx="43236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버전 숫자는 조금씩 달라도 됩니다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안심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설치가 실패해도 괜찮습니다 — 수업 실습의 기본 무대는 Colab. 로컬은 오프라인 연습용으로 천천히.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2 · 내 컴퓨터에 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VS Code 설치 — 코드를 쓰는 집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10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2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8400" y="1674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다운로드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code.visualstudio.com — 운영체제별 설치 파일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8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7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400" y="2646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Python 확장 설치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좌측 확장(Extension) → "Python" 검색 → 설치 (Microsoft)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654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46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0" y="3618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폴더 열기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파일 → 폴더 열기 → 내 작업 폴더(예: 2026_ComputerCoding)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626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18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400" y="4590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파일 만들기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hello.py를 만들고 print("Hello!") — ▶ 버튼으로 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4800" y="1602000"/>
            <a:ext cx="4802400" cy="149895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실행 ▶: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2400" y="1929600"/>
            <a:ext cx="4356000" cy="603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# hello.py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print("Hello, VS Code!")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42400" y="249330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42400" y="2565300"/>
            <a:ext cx="4356000" cy="355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Hello, VS Code!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VS Code의 역할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Colab이 "실험실"이라면 VS Code는 "작업대"입니다 — 파일 단위 코드는 여기서 씁니다.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2 · 내 컴퓨터에 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가상환경 — 프로젝트별 독립 서랍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왜 필요한가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프로젝트마다 쓰는 도구 버전이 다를 수 있다 — 한 컴퓨터에서 여러 프로젝트를 갈라 놓는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비유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책상 서랍: 데이터 분석 서랍에는 판다스, 게임 서랍에는 게임 도구 — 서랍마다 도구 세트가 따로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지금 단계에서는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개념만 알면 충분합니다 — 명령어는 나중에 패키지 설치가 필요해질 때 다시 만납니다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실무 이야기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회사의 데이터 분석팀은 프로젝트마다 가상환경을 새로 만드는 것이 표준 절차입니다.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2 · 내 컴퓨터에 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설치 확인 — 터미널에서 두 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터미널(명령 프롬프트)이란?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마우스 대신 글자로 명령하는 창 — Windows: cmd, macOS: 터미널(Terminal)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첫 번째 명령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python --version — 설치된 파이썬 버전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두 번째 명령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pip --version — 패키지 설치 도구 확인 (다음 슬라이드에서 설명)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17466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터미널: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603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$ python --version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$ pip --version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249330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2565300"/>
            <a:ext cx="4356000" cy="603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Python 3.12.6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pip 25.1 from ... (python 3.12)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잘 안 되면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명령어를 그대로 복사해서 붙여넣으세요. 오류 메시지가 나면 그 메시지를 그대로 검색 — 오류 읽기가 오늘의 실습입니다.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3 · 도구 미리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pip — 파이썬 도구 상자에서 꺼내 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패키지란?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다른 사람이 만들어 둔 도구의 묶음 — 넘파이(계산), 판다스(표), 맷플롯립(그래프)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pip의 역할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명령 한 줄로 패키지를 내려받아 설치 — pip install 패키지이름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Colab은 이미 완비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넘파이·판다스·그래프 도구가 미리 설치되어 있습니다 — import만 하면 바로 사용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16329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터미널: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0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$ pip install pandas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Collecting pandas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Successfully installed pandas-3.0.6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이 수업에서는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지금은 설치가 필요 없습니다 — Colab 실습으로 진행하고, 로컬 설치가 안정되면 그때 옮깁니다.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3 · 도구 미리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.ipynb — 노트북 파일의 정체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노트북 = 셀들의 모임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코드 셀 + 마크다운 셀이 순서대로 쌓인 파일 — 확장자는 .ipynb (IPython Notebook)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왜 노트북인가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코드·결과·설명이 한 파일에 함께 — 데이터 분석의 "시행착오 기록"에 최적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매주 받는 실습 파일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Notebooks/weekNN_....ipynb — Colab에서 열고 위에서부터 실행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187102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노트북 안: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week02_setup_practice.ipynb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[마크다운] ## 1. 파이썬 버전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[코드]    import sys; sys.version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[출력]    3.12.6 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오늘의 실습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노트북 week02 — 내 환경을 점검하고 체크리스트를 완성합니다.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PBL · 오늘의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나의 환경 체크리스트 — 하나씩 점검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20000"/>
          <a:ext cx="11246400" cy="31140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880000"/>
                <a:gridCol w="5004000"/>
                <a:gridCol w="3362400"/>
              </a:tblGrid>
              <a:tr h="41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점검 항목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확인 방법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결과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Colab 접속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colab.research.google.com 열기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□ 완료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노트북 만들기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새 노트 생성 + 이름 변경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□ 완료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로컬 파이썬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python --version 실행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□ 완료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VS Code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설치 + Python 확장 설치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□ 완료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pip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pip --version 실행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□ 완료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52560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560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목표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전부 완료하지 않아도 됩니다 — Colab은 필수, 나머지는 이번 주 안에. 체크리스트는 노트북 마지막 셀에도 있습니다.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PBL · 오늘의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같은 코드, 두 무대 — 어디서든 같은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코드는 환경을 타지 않는다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파이썬 문법은 어디서든 동일 — 달라지는 것은 실행 버튼의 위치뿐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Colab에서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+ 코드 버튼 → 입력 → Shift + Enter — 브라우저에서 바로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VS Code에서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hello.py 저장 → ▶ 버튼 — 터미널에 결과 출력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18475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0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# 어디서든 같은 코드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 = [18.5, 19.2, 21.0]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print(len(temps))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print(sum(temps) / len(temps))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295050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022500"/>
            <a:ext cx="4356000" cy="5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19.566666666666666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연결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이 코드는 4주차 리스트 시간에 다시 만납니다 — 지금은 "돌아간다"로 충분합니다.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PBL · 오늘의 퀴즈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맞을까, 틀릴까? — 근거를 붙여서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Q1  Colab을 쓰려면 내 컴퓨터에 파이썬을 먼저 설치해야 한다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브라우저만 있으면 된다는 말이 맞을까?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200" y="1620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200" y="1620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Q2  pip는 패키지를 삭제하는 도구다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설치만 하는 걸까, 삭제도 할까?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22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" y="3222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Q3  노트북 파일의 확장자는 .ipynb다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제출할 때 받는 파일 확장자는?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200" y="3222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200" y="3222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Q4  Colab 노트북은 내 컴퓨터에 자동 저장된다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저장되는 곳은 내 하드가 아닐까?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토론 포인트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정답: Q1 X · Q2 X(삭제도) · Q3 O · Q4 X(드라이브) — "왜 그렇게 생각했는지"가 중요합니다.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주의 · 자주 생기는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막히면 여기부터 — 검사 순서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6000"/>
            <a:ext cx="5616000" cy="1080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56000"/>
            <a:ext cx="5256000" cy="1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"python을 찾을 수 없다"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Windows 설치 시 PATH 체크를 빠뜨린 경우가 대부분 — 파이썬을 다시 설치하며 체크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80000"/>
            <a:ext cx="5616000" cy="1080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200" y="2880000"/>
            <a:ext cx="5256000" cy="1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설치했는데 버전이 다르다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python과 python3 중 환경마다 다른 이름 — 둘 다 쳐 보고 되는 것을 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04000"/>
            <a:ext cx="5616000" cy="1080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" y="4104000"/>
            <a:ext cx="5256000" cy="1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VS Code에서 실행이 안 된다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Python 확장 설치 여부와 인터프리터 선택(우측 하단 버전 표시)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4800" y="1602000"/>
            <a:ext cx="4802400" cy="242287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터미널: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2400" y="1929600"/>
            <a:ext cx="4356000" cy="10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# 진단의 첫걸음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$ python --version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$ pip --version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$ code --version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42400" y="295050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42400" y="3022500"/>
            <a:ext cx="4356000" cy="8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Python 3.12.6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pip 25.1 from ...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1.92.0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마음가짐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오류 메시지는 적이 아니라 힌트입니다 — 읽고, 검색하고, 물어보는 3단 습관을 오늘부터.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실습 · 오늘의 노트북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week02 노트북 — 내 환경 점검하기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10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2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8400" y="1674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노트북 받기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수업 플랫폼에서 week02 실습 노트북(.ipynb)을 내려받는다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8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7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400" y="2646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Colab에서 열기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파일 → 노트북 업로드 — 위에서부터 차례로 실행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654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46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0" y="3618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체크리스트 채우기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표준 라이브러리 셀들을 실행하며 내 환경을 점검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626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18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400" y="4590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결과 저장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실행 결과가 남은 .ipynb를 드라이브에 보관 — 다음 주 첫 확인 자료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4800" y="1602000"/>
            <a:ext cx="4802400" cy="338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4800" y="1602000"/>
            <a:ext cx="4442400" cy="33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Notebooks/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17406B"/>
                </a:solidFill>
                <a:latin typeface="Consolas"/>
                <a:ea typeface="Consolas"/>
                <a:cs typeface="Consolas"/>
              </a:rPr>
              <a:t>week02_setup_practice.ipynb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노트북 안에는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· 파이썬 버전 확인 셀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· math · datetime · random 맛보기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· 나의 환경 체크리스트 (마크다운)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제출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오늘도 제출물은 없습니다 — 실행된 노트북을 드라이브에 보관해 두면 다음 주 수업 시작 시 확인합니다.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PBL · 생각 나누기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같이 이야기해 봅시다 — 답보다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3708000" cy="345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3348000" cy="34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Q1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왜 설치 없이 쓰는 Colab이 생겼을까?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구글은 왜 무료로 서버를 빌려 줄까? 어떤 사람들에게 유용할까?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200" y="1620000"/>
            <a:ext cx="3708000" cy="345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9200" y="1620000"/>
            <a:ext cx="3348000" cy="34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Q2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내 컴퓨터는 "내 것"일까?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클라우드에 코드와 데이터를 두면 편하지만 무엇을 조심해야 할까? (개인정보·백업)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41200" y="1620000"/>
            <a:ext cx="3708000" cy="345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1200" y="1620000"/>
            <a:ext cx="3348000" cy="34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Q3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도구를 고르는 기준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무료·유료, 설치형·웹형 — 나라면 어떤 기준으로 고를까? 이 수업의 선택은 왜일까?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PBL — 문제 중심 학습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도구는 문제를 풀기 위한 수단입니다. 다음 주부터는 진짜 문제(코드)를 만납니다.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마무리 · 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다음 주 — 코드가 우리 말을 이해하기 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변수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데이터에 이름을 붙여 담는다 — x =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3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조건문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경우에 따라 다르게 동작 — 점수에 따라 학점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8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반복문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같은 일을 한 번에 — 1부터 100까지 합은 두 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313725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[2]: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201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x = 10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if x &gt; 5: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print("크다")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total = 0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for i in range(1, 101):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total = total + i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print(total)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90300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975000"/>
            <a:ext cx="4356000" cy="5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크다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5050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준비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오늘 세팅한 환경이 드디어 진짜 코드를 만납니다 — 미리 보고 싶은 학생은 위 코드를 Colab에 붙여 넣어 보세요.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4000"/>
            <a:ext cx="3657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6400"/>
            <a:ext cx="10058400" cy="5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오늘의 핵심 다섯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00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8400" y="17820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두 개의 무대: Colab + 로컬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수업은 Colab, 오프라인은 내 컴퓨터 — 같은 코드가 양쪽에서 동작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18400" y="25524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6406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8400" y="26226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Colab은 셀의 모임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Shift + Enter 실행, 마크다운 셀로 메모, 드라이브 자동 저장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8400" y="33930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4812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8400" y="34632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로컬 설치 3종 세트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파이썬 + VS Code + (pip) — 설치 확인은 터미널 두 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8400" y="42336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43218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8400" y="43038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pip = 패키지 설치 도구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넘파이·판다스 같은 도구를 명령 한 줄로 설치 — Colab은 미완비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18400" y="50742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51624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8400" y="51444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오류는 힌트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메시지를 읽고 검색하는 습관 — 디버깅은 데이터 분석의 일부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8400" y="6033600"/>
            <a:ext cx="9601200" cy="29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week02 노트북으로 환경 체크리스트를 완성해 오세요 — 다음 주부터 본격 코드입니다.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 컴퓨터코딩 · 2주차 개발환경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200"/>
            <a:ext cx="5486400" cy="29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다음 주 예고 · 3주차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600"/>
            <a:ext cx="105156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파이썬 기초 문법 — 코드의 네 가지 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39200"/>
            <a:ext cx="9601200" cy="36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변수 · 연산자 · 조건문 · 반복문 — 데이터를 다루는 기본기를 만듭니다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4000"/>
            <a:ext cx="3708000" cy="1656000"/>
          </a:xfrm>
          <a:prstGeom prst="roundRect">
            <a:avLst/>
          </a:prstGeom>
          <a:solidFill>
            <a:srgbClr val="12283C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200" y="3384000"/>
            <a:ext cx="3348000" cy="16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변수 · 연산자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데이터에 이름 붙이고 계산하기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8000" y="3384000"/>
            <a:ext cx="3708000" cy="1656000"/>
          </a:xfrm>
          <a:prstGeom prst="roundRect">
            <a:avLst/>
          </a:prstGeom>
          <a:solidFill>
            <a:srgbClr val="12283C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8000" y="3384000"/>
            <a:ext cx="3348000" cy="16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조건문 · 반복문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분기와 반복 — 코드가 똑똑해진다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200" y="2952000"/>
            <a:ext cx="3016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다음 주에 배울 두 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50000" y="3384000"/>
            <a:ext cx="3200400" cy="1371600"/>
          </a:xfrm>
          <a:prstGeom prst="roundRect">
            <a:avLst/>
          </a:prstGeom>
          <a:solidFill>
            <a:srgbClr val="12283C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3600" y="3384000"/>
            <a:ext cx="2833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준비물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① week02 노트북 체크리스트 완성 ② 로컬 파이썬·VS Code 설치 (미완료 시 이번 주 안에)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