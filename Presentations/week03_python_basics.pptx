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3주차 오리엔테이션. 파이썬 기초 문법 — 오늘의 흐름을 소개하고 Colab 실습으로 진행한다.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문법 첫 주. 목표 4개와 흐름 패널로 오늘의 지도를 보여 주고 시작. 실습은 Colab에서 진행한다.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1주차 분석 5단계 지도를 다시 꺼낸다. ③정리·④분석이 코드의 구간임을 짚고, 1주차 맛보기 코드가 오늘부터 "읽히는" 코드가 됨을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=는 수학의 등호가 아니라 대입. x = x + 5를 실행해 "오른쪽 먼저 계산"을 확인하게 한다. 이름 규칙도 간단히.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자료형을 표로 정리하고 type() 실행 결과를 함께 읽는다. "10"(str)과 10(int)의 차이는 18장 실수 ③으로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f-string은 앞으로 매주 쓰는 출력 도구. 중괄호 안에 식이 들어간다는 것과 쉼표 출력과의 차이를 보여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일곱 산술 연산자 표를 읽고 / vs // vs %를 실행으로 구분. 5 + 3.2 = 8.2로 형 섞임 결과도 짚는다. %와 //는 미션 2에서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=와 == 구분이 오늘 최대 포인트. 비교 결과가 bool임을 확인하고, 글자 비교(사전 순)도 잠깐 소개.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and·or·not은 진리표 암기 대신 감각으로. 나이·티켓 예에서 and의 엄격함을 느끼게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콜론 + 4칸 들여쓰기가 파이썬 블록의 전부. 출력에서 "선선한 날씨"가 빠진 이유(else 미실행)를 반드시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학점 판정기로 elif 흐름 추적. 87점이 90 검사에서 거짓 → 80에서 참 → B. 조건 순서가 로직임을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중첩 조건은 들여쓰기 두 겹(8칸). and로 합치는 대안도 소개. 오늘은 읽는 연습이면 충분.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range의 0 시작과 끝 미포함이 핵심. 출력 여섯 줄을 같이 읽으며 i의 변화를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누적합 3단 패턴(초기화→반복→최종 출력)은 시험 단골. 추적 표를 한 바퀴씩 같이 읽는다. += 는 짧은 표기임만 기억.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while은 조건이 참인 동안. break는 즉시 탈출, continue는 한 바퀴 건너뜀. 무한 루프 시 Colab 정지 버튼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1주차 맛보기 코드의 완전 해부. 반복 누적과 sum()이 같은 20.16을 낸다는 것을 실행으로 확인 — 문법이 데이터 분석으로 연결되는 장면.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실수 ①②: 들여쓰기, =/==. 에러 메시지를 겁내지 말고 읽는 습관. 노트북 ⚠ 셀(일부러 에러 내기)과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실수 ③④: str+int TypeError, range 끝 미포함. 둘 다 오늘 미션과 직결되는 실수다.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PBL 미션 3개는 난이도순. 미션 2 정답은 2550(자가 채점용). 노트북 힌트 셀을 먼저 보게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총정리 코드를 Colab에 직접 타이핑. 이름·점수를 바꿔 실행하게 한다. 어느 줄이 어느 STEP인지 짚어 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예측 훈련: 점수를 바꾸면 학점이 자동으로 바뀐다. round()는 가볍게 소개. 추적 표로 total의 변화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 핵심을 학생 말로 다시 말하게 하고 마친다. 미션 2 정답 2550 — 자가 채점 안내 반복.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정답: Q1 3(4 미포함) · Q2 True · Q3 TypeError · Q4 range(2, 101, 2). 30초 침묵 후 정답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4주차 예고: 리스트·튜플·딕셔너리·집합. 오늘의 for와 누적합이 자료구조 순회의 기초다. 노트북 완주·복습 준비물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5200" y="640800"/>
            <a:ext cx="4572000" cy="329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0" b="1">
                <a:solidFill>
                  <a:srgbClr val="16354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4400" y="1418400"/>
            <a:ext cx="7315200" cy="32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2026 컴퓨터코딩 · 데이터 분석 입문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600" y="1828800"/>
            <a:ext cx="7498800" cy="100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540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파이썬 기초 문법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4400" y="2926800"/>
            <a:ext cx="6948000" cy="41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변수 · 연산자 · 조건문 · 반복문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4400" y="3704400"/>
            <a:ext cx="2012400" cy="421200"/>
          </a:xfrm>
          <a:prstGeom prst="roundRect">
            <a:avLst/>
          </a:prstGeom>
          <a:solidFill>
            <a:srgbClr val="173650"/>
          </a:solidFill>
          <a:ln w="12096">
            <a:solidFill>
              <a:srgbClr val="27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4400" y="3704400"/>
            <a:ext cx="2012400" cy="42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3주차 / 15주차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3600" y="3704400"/>
            <a:ext cx="2012400" cy="421200"/>
          </a:xfrm>
          <a:prstGeom prst="roundRect">
            <a:avLst/>
          </a:prstGeom>
          <a:solidFill>
            <a:srgbClr val="173650"/>
          </a:solidFill>
          <a:ln w="12096">
            <a:solidFill>
              <a:srgbClr val="27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3600" y="3704400"/>
            <a:ext cx="2012400" cy="42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실험·실습 · PBL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2800" y="3704400"/>
            <a:ext cx="2012400" cy="421200"/>
          </a:xfrm>
          <a:prstGeom prst="roundRect">
            <a:avLst/>
          </a:prstGeom>
          <a:solidFill>
            <a:srgbClr val="173650"/>
          </a:solidFill>
          <a:ln w="12096">
            <a:solidFill>
              <a:srgbClr val="274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2800" y="3704400"/>
            <a:ext cx="2012400" cy="42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실습 환경 · Google Colab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9200" y="3978000"/>
            <a:ext cx="3747600" cy="182520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000" y="4068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[1]: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6800" y="4305600"/>
            <a:ext cx="3272400" cy="78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x = 10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if x &gt; 5: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print("크다")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56800" y="5086800"/>
            <a:ext cx="32724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56800" y="5158800"/>
            <a:ext cx="3272400" cy="3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크다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00" y="5990400"/>
            <a:ext cx="4572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2026년 1학기 · 강의자료 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3주차 파이썬 기초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오리엔테이션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오늘의 학습 목표 — 문법 네 걸음으로 데이터 다루기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74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66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8400" y="1638000"/>
            <a:ext cx="5799600" cy="100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① 변수에 값을 담고 자료형을 구분한다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int · float · str · bool — type()으로 확인한다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08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00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400" y="2772000"/>
            <a:ext cx="5799600" cy="100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② 연산자로 계산하고 비교한다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산술 · 비교 · 논리 — 비교의 답은 True / False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942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34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400" y="3906000"/>
            <a:ext cx="5799600" cy="100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③ 조건문으로 경우를 나눈다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if · elif · else — 들여쓰기 4칸이 하나의 블록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076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068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400" y="5040000"/>
            <a:ext cx="5799600" cy="100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④ 반복문으로 같은 일을 시킨다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for · while — 누적합을 직접 만들어 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2400" y="1555200"/>
            <a:ext cx="3866400" cy="4572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2800" y="1782000"/>
            <a:ext cx="3225600" cy="32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오늘의 흐름</a:t>
            </a:r>
          </a:p>
        </p:txBody>
      </p:sp>
      <p:sp>
        <p:nvSpPr>
          <p:cNvPr id="20" name="Oval 19"/>
          <p:cNvSpPr/>
          <p:nvPr/>
        </p:nvSpPr>
        <p:spPr>
          <a:xfrm>
            <a:off x="8182800" y="23220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2800" y="23148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800" y="2232000"/>
            <a:ext cx="27504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변수와 자료형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5E6E7E"/>
                </a:solidFill>
                <a:latin typeface="Consolas"/>
                <a:ea typeface="Consolas"/>
                <a:cs typeface="Consolas"/>
              </a:rPr>
              <a:t>x = 10 · type(x)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48400" y="2656800"/>
            <a:ext cx="0" cy="475200"/>
          </a:xfrm>
          <a:prstGeom prst="line">
            <a:avLst/>
          </a:prstGeom>
          <a:ln w="20161">
            <a:solidFill>
              <a:srgbClr val="C9D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182800" y="32544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2800" y="32472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8800" y="3164400"/>
            <a:ext cx="27504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연산자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5E6E7E"/>
                </a:solidFill>
                <a:latin typeface="Consolas"/>
                <a:ea typeface="Consolas"/>
                <a:cs typeface="Consolas"/>
              </a:rPr>
              <a:t>+ - * / · == &gt; and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48400" y="3589200"/>
            <a:ext cx="0" cy="475200"/>
          </a:xfrm>
          <a:prstGeom prst="line">
            <a:avLst/>
          </a:prstGeom>
          <a:ln w="20161">
            <a:solidFill>
              <a:srgbClr val="C9D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182800" y="41868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2800" y="41796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8800" y="4096800"/>
            <a:ext cx="27504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조건문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5E6E7E"/>
                </a:solidFill>
                <a:latin typeface="Consolas"/>
                <a:ea typeface="Consolas"/>
                <a:cs typeface="Consolas"/>
              </a:rPr>
              <a:t>if · elif · else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48400" y="4521600"/>
            <a:ext cx="0" cy="475200"/>
          </a:xfrm>
          <a:prstGeom prst="line">
            <a:avLst/>
          </a:prstGeom>
          <a:ln w="20161">
            <a:solidFill>
              <a:srgbClr val="C9D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182800" y="5119200"/>
            <a:ext cx="327600" cy="327600"/>
          </a:xfrm>
          <a:prstGeom prst="ellipse">
            <a:avLst/>
          </a:prstGeom>
          <a:solidFill>
            <a:srgbClr val="17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2800" y="5112000"/>
            <a:ext cx="327600" cy="32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800" y="5029200"/>
            <a:ext cx="2750400" cy="86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반복문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5E6E7E"/>
                </a:solidFill>
                <a:latin typeface="Consolas"/>
                <a:ea typeface="Consolas"/>
                <a:cs typeface="Consolas"/>
              </a:rPr>
              <a:t>for range() · while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3주차 파이썬 기초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도입 · 왜 문법을 배우나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데이터 분석의 5단계 — 코드가 맡는 구간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56000"/>
            <a:ext cx="2124000" cy="122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56000"/>
            <a:ext cx="1764000" cy="12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① 질문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사람이 정한다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4400" y="2124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00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7200" y="1656000"/>
            <a:ext cx="2124000" cy="122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7200" y="1656000"/>
            <a:ext cx="1764000" cy="12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② 수집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데이터를 모은다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64400" y="2124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00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7200" y="1656000"/>
            <a:ext cx="2124000" cy="1224000"/>
          </a:xfrm>
          <a:prstGeom prst="roundRect">
            <a:avLst/>
          </a:prstGeom>
          <a:solidFill>
            <a:srgbClr val="FDF3DD"/>
          </a:solidFill>
          <a:ln w="12096">
            <a:solidFill>
              <a:srgbClr val="C98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17200" y="1656000"/>
            <a:ext cx="1764000" cy="12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③ 정리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코드로 손질한다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4400" y="2124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00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7200" y="1656000"/>
            <a:ext cx="2124000" cy="1224000"/>
          </a:xfrm>
          <a:prstGeom prst="roundRect">
            <a:avLst/>
          </a:prstGeom>
          <a:solidFill>
            <a:srgbClr val="FDF3DD"/>
          </a:solidFill>
          <a:ln w="12096">
            <a:solidFill>
              <a:srgbClr val="C98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7200" y="1656000"/>
            <a:ext cx="1764000" cy="12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④ 분석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코드로 계산한다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4400" y="2124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00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17200" y="1656000"/>
            <a:ext cx="2124000" cy="122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97200" y="1656000"/>
            <a:ext cx="1764000" cy="12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⑤ 답·예측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결과를 읽는다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8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③④는 오늘부터 코드의 구간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정리와 분석은 사람 손으로 못 한다 — 파이썬 문법이 바로 이 구간의 언어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3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1주차의 기억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sum(temps) / len(temps) — 그때는 마법 같던 한 줄, 오늘은 읽고 쓸 수 있게 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오늘의 약속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문법을 통째로 외우는 날이 아닙니다 — 예제를 따라 치고, 숫자를 바꾸고, 무엇이 달라졌는지 말하기.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3주차 파이썬 기초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1 · 변수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변수 — 값에 이름을 붙여 담는 그릇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=는 "같다"가 아니라 "담는다"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오른쪽을 먼저 계산해 왼쪽 이름에 저장 — 수학의 등호와 다르다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덮어쓰기는 언제든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x = 10 뒤에 x = 20이면 20 — 마지막에 담은 값이 현재 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이름 짓기 규칙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영문 소문자와 밑줄 _ — 띄어쓰기·숫자 시작은 불가, temp_mean처럼 뜻이 보이게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2899125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[2]: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153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x = 10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print(x)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x = x + 5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print(x)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x = "안녕"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print(x)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342675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3498750"/>
            <a:ext cx="4356000" cy="8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15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안녕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4800" y="4680000"/>
            <a:ext cx="4802400" cy="504000"/>
          </a:xfrm>
          <a:prstGeom prst="roundRect">
            <a:avLst/>
          </a:prstGeom>
          <a:solidFill>
            <a:srgbClr val="FDF3DD"/>
          </a:solidFill>
          <a:ln w="12700">
            <a:solidFill>
              <a:srgbClr val="C98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8400" y="4680000"/>
            <a:ext cx="44352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8A6410"/>
                </a:solidFill>
                <a:latin typeface="나눔고딕"/>
                <a:ea typeface="나눔고딕"/>
                <a:cs typeface="나눔고딕"/>
              </a:rPr>
              <a:t>그릇에 자료형도 같이 담긴다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6B5312"/>
                </a:solidFill>
                <a:latin typeface="나눔고딕"/>
                <a:ea typeface="나눔고딕"/>
                <a:cs typeface="나눔고딕"/>
              </a:rPr>
              <a:t>x는 int였다가 str로 바뀐다 — 유연한 만큼 실수도 생긴다.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=의 방향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오른쪽을 먼저 계산한다 — 그래서 x = x + 5가 "5 더해서 다시 담기"가 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3주차 파이썬 기초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1 · 자료형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기본 자료형 네 가지 — type()으로 확인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56000"/>
          <a:ext cx="6336000" cy="23256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1368000"/>
                <a:gridCol w="2016000"/>
                <a:gridCol w="2952000"/>
              </a:tblGrid>
              <a:tr h="396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자료형</a:t>
                      </a:r>
                    </a:p>
                  </a:txBody>
                  <a:tcPr marL="82296" marR="82296" marT="82296" marB="82296" anchor="ctr">
                    <a:solidFill>
                      <a:srgbClr val="17406B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예시</a:t>
                      </a:r>
                    </a:p>
                  </a:txBody>
                  <a:tcPr marL="82296" marR="82296" marT="82296" marB="82296" anchor="ctr">
                    <a:solidFill>
                      <a:srgbClr val="17406B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설명</a:t>
                      </a:r>
                    </a:p>
                  </a:txBody>
                  <a:tcPr marL="82296" marR="82296" marT="82296" marB="82296" anchor="ctr">
                    <a:solidFill>
                      <a:srgbClr val="17406B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482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int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10, -3, 0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정수 — 나이 · 개수 · 점수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482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float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3.14, 19.8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소수 — 기온 · 평균 · 비율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482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str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"홍길동"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문자열 — 이름 · 도시 · 문장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482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bool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True, False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참/거짓 — 조건 판단의 결과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17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bool은 조건문의 재료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True / False 두 값만 있는 자료형 — STEP 3의 if가 바로 이 값을 본다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4800" y="1602000"/>
            <a:ext cx="4802400" cy="266100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[3]: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2400" y="1929600"/>
            <a:ext cx="4356000" cy="106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print(type(10))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print(type(3.14))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print(type("안녕"))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print(type(True))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42400" y="295050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42400" y="3022500"/>
            <a:ext cx="4356000" cy="106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&lt;class 'int'&gt;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&lt;class 'float'&gt;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&lt;class 'str'&gt;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&lt;class 'bool'&gt;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4800" y="4428000"/>
            <a:ext cx="4802400" cy="504000"/>
          </a:xfrm>
          <a:prstGeom prst="roundRect">
            <a:avLst/>
          </a:prstGeom>
          <a:solidFill>
            <a:srgbClr val="FDF3DD"/>
          </a:solidFill>
          <a:ln w="12700">
            <a:solidFill>
              <a:srgbClr val="C98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8400" y="4428000"/>
            <a:ext cx="44352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8A6410"/>
                </a:solidFill>
                <a:latin typeface="나눔고딕"/>
                <a:ea typeface="나눔고딕"/>
                <a:cs typeface="나눔고딕"/>
              </a:rPr>
              <a:t>"10"과 10은 다른 값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6B5312"/>
                </a:solidFill>
                <a:latin typeface="나눔고딕"/>
                <a:ea typeface="나눔고딕"/>
                <a:cs typeface="나눔고딕"/>
              </a:rPr>
              <a:t>따옴표가 붙는 순간 문자열 — 계산이 아니라 이어 붙이기가 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type()은 디버깅 친구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값이 생각과 다르게 나오면 type()부터 — 지금 담긴 값이 진짜 무슨형(型)인지 물어봅니다.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3주차 파이썬 기초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1 · f-string 출력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f-string — 값과 문장을 한 줄로 붙여 출력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문자열 앞에 f, 값은 { }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f"이름: {name}" — 중괄호 자리에 변수의 값이 끼워져 나온다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계산도 바로 가능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f"내년: {score + 3}점" — 중괄호 안은 식, 먼저 계산하고 출력한다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print의 진짜 얼굴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1주차의 print("Hello")도 같은 함수 — 이제는 결과를 문장에 실어 보낸다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266100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[4]: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129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name = "김하늘"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score = 87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print(f"이름: {name}")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print(f"점수: {score}점")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print(f"내년: {score + 3}점")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3188625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3260625"/>
            <a:ext cx="4356000" cy="8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이름: 김하늘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점수: 87점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내년: 90점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4800" y="4428000"/>
            <a:ext cx="4802400" cy="504000"/>
          </a:xfrm>
          <a:prstGeom prst="roundRect">
            <a:avLst/>
          </a:prstGeom>
          <a:solidFill>
            <a:srgbClr val="FDF3DD"/>
          </a:solidFill>
          <a:ln w="12700">
            <a:solidFill>
              <a:srgbClr val="C98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8400" y="4428000"/>
            <a:ext cx="44352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8A6410"/>
                </a:solidFill>
                <a:latin typeface="나눔고딕"/>
                <a:ea typeface="나눔고딕"/>
                <a:cs typeface="나눔고딕"/>
              </a:rPr>
              <a:t>print("이름:", name)도 같은 결과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6B5312"/>
                </a:solidFill>
                <a:latin typeface="나눔고딕"/>
                <a:ea typeface="나눔고딕"/>
                <a:cs typeface="나눔고딕"/>
              </a:rPr>
              <a:t>쉼표 방식도 있지만 문장을 만들 때는 f-string이 깔끔합니다.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오늘부터 습관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글자와 숫자를 섞어 출력할 때는 f-string — 18장의 이어 붙이기 에러를 미리 예방합니다.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3주차 파이썬 기초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2 · 산술 연산자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계산의 일곱 도구 — + - * / // % **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20000"/>
          <a:ext cx="5472000" cy="27360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088000"/>
                <a:gridCol w="1872000"/>
                <a:gridCol w="1512000"/>
              </a:tblGrid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연산자</a:t>
                      </a:r>
                    </a:p>
                  </a:txBody>
                  <a:tcPr marL="82296" marR="82296" marT="82296" marB="82296" anchor="ctr">
                    <a:solidFill>
                      <a:srgbClr val="17406B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예시</a:t>
                      </a:r>
                    </a:p>
                  </a:txBody>
                  <a:tcPr marL="82296" marR="82296" marT="82296" marB="82296" anchor="ctr">
                    <a:solidFill>
                      <a:srgbClr val="17406B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결과</a:t>
                      </a:r>
                    </a:p>
                  </a:txBody>
                  <a:tcPr marL="82296" marR="82296" marT="82296" marB="82296" anchor="ctr">
                    <a:solidFill>
                      <a:srgbClr val="17406B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+   더하기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7 + 2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9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-   빼기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7 - 2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*   곱하기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7 * 2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14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/   나누기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7 / 2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3.5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//  몫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7 // 2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%   나머지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7 % 2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**  거듭제곱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7 ** 2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49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986000"/>
            <a:ext cx="5472000" cy="504000"/>
          </a:xfrm>
          <a:prstGeom prst="roundRect">
            <a:avLst/>
          </a:prstGeom>
          <a:solidFill>
            <a:srgbClr val="FDF3DD"/>
          </a:solidFill>
          <a:ln w="12700">
            <a:solidFill>
              <a:srgbClr val="C98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800" y="4986000"/>
            <a:ext cx="51048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8A6410"/>
                </a:solidFill>
                <a:latin typeface="나눔고딕"/>
                <a:ea typeface="나눔고딕"/>
                <a:cs typeface="나눔고딕"/>
              </a:rPr>
              <a:t>오늘 미션에서 바로 쓸 것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6B5312"/>
                </a:solidFill>
                <a:latin typeface="나눔고딕"/>
                <a:ea typeface="나눔고딕"/>
                <a:cs typeface="나눔고딕"/>
              </a:rPr>
              <a:t>%와 // — 짝수 판별(n % 2 == 0)과 몫 나누기에 씁니다.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313725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[5]: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129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print(7 / 2)    # 나누기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print(7 // 2)   # 몫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print(7 % 2)    # 나머지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print(2 ** 10)  # 거듭제곱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print(5 + 3.2)  # int + float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3188625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3260625"/>
            <a:ext cx="4356000" cy="129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3.5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1024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8.2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/와 //의 차이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/는 결과가 항상 소수(float) — 5 / 2는 2.5, 5 // 2는 2입니다.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3주차 파이썬 기초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2 · 비교 연산자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비교의 답은 True / False — bool 자료형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= 하나는 담기(대입)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x = 10 — 오른쪽 값을 왼쪽 이름에 저장한다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== 두 개는 질문(비교)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x == 10 — "10과 같은가?"의 답은 True 또는 False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비교 연산자 여섯 형제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==  !=  &lt;  &gt;  &lt;=  &gt;= — 답은 언제나 bool, STEP 3의 조건이 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298485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[6]: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134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x = 10</a:t>
            </a:r>
          </a:p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print(x == 10)</a:t>
            </a:r>
          </a:p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print(x != 7)</a:t>
            </a:r>
          </a:p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print(x &gt; 10)</a:t>
            </a:r>
          </a:p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print(x &gt;= 10)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323625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3308250"/>
            <a:ext cx="4356000" cy="109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True</a:t>
            </a:r>
          </a:p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True</a:t>
            </a:r>
          </a:p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False</a:t>
            </a:r>
          </a:p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True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4800" y="4626000"/>
            <a:ext cx="4802400" cy="504000"/>
          </a:xfrm>
          <a:prstGeom prst="roundRect">
            <a:avLst/>
          </a:prstGeom>
          <a:solidFill>
            <a:srgbClr val="FDF3DD"/>
          </a:solidFill>
          <a:ln w="12700">
            <a:solidFill>
              <a:srgbClr val="C98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8400" y="4626000"/>
            <a:ext cx="44352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8A6410"/>
                </a:solidFill>
                <a:latin typeface="나눔고딕"/>
                <a:ea typeface="나눔고딕"/>
                <a:cs typeface="나눔고딕"/>
              </a:rPr>
              <a:t>글자끼리도 비교된다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6B5312"/>
                </a:solidFill>
                <a:latin typeface="나눔고딕"/>
                <a:ea typeface="나눔고딕"/>
                <a:cs typeface="나눔고딕"/>
              </a:rPr>
              <a:t>"apple" &lt; "banana"은 True — 사전 순서(알파벳)로 비교합니다.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=와 ==, 이제 확실히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하나는 담기, 둘은 질문 — 조건문에서 이 둘을 바꿔 쓰는 일이 1등 실수입니다.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3주차 파이썬 기초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2 · 논리 연산자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and · or · not — 판단을 연결하기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and — 둘 다 참이어야 통과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나이도 충족하고 티켓도 있을 때만 입장 — 더 엄격한 조건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or — 하나만 참이어도 통과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회원이거나 쿠폰이 있으면 할인 — 더 관대한 조건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not — 참과 거짓을 뒤집기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not True는 False — "아니다"를 붙이는 연산자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361350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[7]: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177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age = 25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have_id = True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print(age &gt;= 19 and have_id)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print(age &lt; 19 or have_id)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print(not have_id)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print(True and False)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print(True or False)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3664875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3736875"/>
            <a:ext cx="4356000" cy="129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True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True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False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False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True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076000"/>
            <a:ext cx="5616000" cy="504000"/>
          </a:xfrm>
          <a:prstGeom prst="roundRect">
            <a:avLst/>
          </a:prstGeom>
          <a:solidFill>
            <a:srgbClr val="FDF3DD"/>
          </a:solidFill>
          <a:ln w="12700">
            <a:solidFill>
              <a:srgbClr val="C98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" y="5076000"/>
            <a:ext cx="52488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8A6410"/>
                </a:solidFill>
                <a:latin typeface="나눔고딕"/>
                <a:ea typeface="나눔고딕"/>
                <a:cs typeface="나눔고딕"/>
              </a:rPr>
              <a:t>진리표는 외우지 않는다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6B5312"/>
                </a:solidFill>
                <a:latin typeface="나눔고딕"/>
                <a:ea typeface="나눔고딕"/>
                <a:cs typeface="나눔고딕"/>
              </a:rPr>
              <a:t>and는 둘 다 참, or는 하나만 참이면 충분 — 판단을 연결하는 접착제입니다.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한 줄 정리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비교 연산자로 조건을 만들고, 논리 연산자로 조건을 엮는다 — 다음 STEP에서 실행합니다.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3주차 파이썬 기초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3 · 조건문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if — 조건이 참일 때만, else는 그 밖에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if 조건: 다음은 4칸 들여쓰기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들여쓰기 안의 코드는 조건이 참일 때만 실행 — 이것이 파이썬의 블록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else는 "그 밖의 모든 경우"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조건이 거짓일 때 실행 — 둘 중 하나는 반드시 실행된다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블록 밖은 언제나 실행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마지막 print는 if와 무관 — 출력에 항상 나타나는 이유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266100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[8]: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153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temp = 31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if temp &gt;= 28: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print("폭염 주의보")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else: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print("선선한 날씨")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print("오늘의 기온:", temp)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342675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3498750"/>
            <a:ext cx="4356000" cy="584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폭염 주의보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오늘의 기온: 31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4800" y="4428000"/>
            <a:ext cx="4802400" cy="504000"/>
          </a:xfrm>
          <a:prstGeom prst="roundRect">
            <a:avLst/>
          </a:prstGeom>
          <a:solidFill>
            <a:srgbClr val="FDF3DD"/>
          </a:solidFill>
          <a:ln w="12700">
            <a:solidFill>
              <a:srgbClr val="C98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8400" y="4428000"/>
            <a:ext cx="44352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8A6410"/>
                </a:solidFill>
                <a:latin typeface="나눔고딕"/>
                <a:ea typeface="나눔고딕"/>
                <a:cs typeface="나눔고딕"/>
              </a:rPr>
              <a:t>출력을 다시 보세요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6B5312"/>
                </a:solidFill>
                <a:latin typeface="나눔고딕"/>
                <a:ea typeface="나눔고딕"/>
                <a:cs typeface="나눔고딕"/>
              </a:rPr>
              <a:t>"선선한 날씨"는 안 나왔다 — else는 조건이 거짓일 때만 실행됩니다.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들여쓰기가 곧 구조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같은 깊이는 같은 팀 — 실습에서 들여쓰기 에러가 나면 이 장으로 돌아옵니다.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3주차 파이썬 기초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3 · elif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학점 판정기 — 갈래가 많으면 elif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56000"/>
          <a:ext cx="5040000" cy="20160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880000"/>
                <a:gridCol w="2160000"/>
              </a:tblGrid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점수</a:t>
                      </a:r>
                    </a:p>
                  </a:txBody>
                  <a:tcPr marL="82296" marR="82296" marT="82296" marB="82296" anchor="ctr">
                    <a:solidFill>
                      <a:srgbClr val="17406B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학점</a:t>
                      </a:r>
                    </a:p>
                  </a:txBody>
                  <a:tcPr marL="82296" marR="82296" marT="82296" marB="82296" anchor="ctr">
                    <a:solidFill>
                      <a:srgbClr val="17406B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414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90 이상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A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414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80 이상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B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414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70 이상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C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414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그 밖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F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2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위에서부터 차례로 검사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처음으로 참인 블록만 실행 — 아래 갈래는 모두 건너뛴다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968000"/>
            <a:ext cx="5472000" cy="504000"/>
          </a:xfrm>
          <a:prstGeom prst="roundRect">
            <a:avLst/>
          </a:prstGeom>
          <a:solidFill>
            <a:srgbClr val="FDF3DD"/>
          </a:solidFill>
          <a:ln w="12700">
            <a:solidFill>
              <a:srgbClr val="C98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800" y="4968000"/>
            <a:ext cx="51048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8A6410"/>
                </a:solidFill>
                <a:latin typeface="나눔고딕"/>
                <a:ea typeface="나눔고딕"/>
                <a:cs typeface="나눔고딕"/>
              </a:rPr>
              <a:t>else는 안전망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6B5312"/>
                </a:solidFill>
                <a:latin typeface="나눔고딕"/>
                <a:ea typeface="나눔고딕"/>
                <a:cs typeface="나눔고딕"/>
              </a:rPr>
              <a:t>앞의 조건에 하나도 해당하지 않을 때 — 맨 아래에 한 번만 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4800" y="1602000"/>
            <a:ext cx="4802400" cy="338490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[9]: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2400" y="1929600"/>
            <a:ext cx="4356000" cy="229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score = 87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if score &gt;= 90: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print("학점 A")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elif score &gt;= 80: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print("학점 B")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elif score &gt;= 70: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print("학점 C")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else: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print("학점 F")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print("판정 끝!")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42400" y="418875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42400" y="4260750"/>
            <a:ext cx="4356000" cy="546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학점 B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판정 끝!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조건 순서도 로직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90 이상을 먼저 검사하지 않으면 95점이 "학점 C"에 걸립니다 — 큰 조건부터 위에.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3주차 파이썬 기초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3 · 중첩 조건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if 안의 if — 두 겹의 판단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바깥 if → 안쪽 if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큰 판단 안에 작은 판단 — 안쪽 블록은 8칸 들여쓰기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and로 합치는 방법도 있다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age &gt;= 19 and ticket — 갈래가 단순하면 한 줄이 더 읽기 쉽다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지금은 읽는 연습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어느 print가 어느 if에 속하는지 손가락으로 짚어 보기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304200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[10]: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216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2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age = 20</a:t>
            </a:r>
          </a:p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2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ticket = True</a:t>
            </a:r>
          </a:p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2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if age &gt;= 19:</a:t>
            </a:r>
          </a:p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2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if ticket:</a:t>
            </a:r>
          </a:p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2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    print("입장 가능")</a:t>
            </a:r>
          </a:p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2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else:</a:t>
            </a:r>
          </a:p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2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    print("티켓을 사세요")</a:t>
            </a:r>
          </a:p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2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else:</a:t>
            </a:r>
          </a:p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2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print("미성년자 출입 불가")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405540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4127400"/>
            <a:ext cx="4356000" cy="3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20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입장 가능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4800" y="5040000"/>
            <a:ext cx="4802400" cy="504000"/>
          </a:xfrm>
          <a:prstGeom prst="roundRect">
            <a:avLst/>
          </a:prstGeom>
          <a:solidFill>
            <a:srgbClr val="FDF3DD"/>
          </a:solidFill>
          <a:ln w="12700">
            <a:solidFill>
              <a:srgbClr val="C98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8400" y="5040000"/>
            <a:ext cx="44352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8A6410"/>
                </a:solidFill>
                <a:latin typeface="나눔고딕"/>
                <a:ea typeface="나눔고딕"/>
                <a:cs typeface="나눔고딕"/>
              </a:rPr>
              <a:t>중첩을 읽는 법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6B5312"/>
                </a:solidFill>
                <a:latin typeface="나눔고딕"/>
                <a:ea typeface="나눔고딕"/>
                <a:cs typeface="나눔고딕"/>
              </a:rPr>
              <a:t>4칸은 바깥 if, 8칸은 안쪽 if — 같은 깊이끼리 한 팀입니다.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들여쓰기 4의 배수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한 겹 4칸, 두 겹 8칸 — Colab 기본값인 스페이스 4칸으로 통일합니다.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3주차 파이썬 기초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4 · for 반복문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for + range() — 정해진 횟수만큼 반복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range(3)은 0, 1, 2 — 세 번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시작은 0 — 끝 숫자는 미포함, "3번 반복"이라는 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i는 매 바퀴 새 값을 받는다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for i in range(3): — 본문(4칸 들여쓰기)이 값마다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range(1, 4)는 1, 2, 3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range(시작, 끝) — 시작은 포함, 끝은 여전히 미포함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3375375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[11]: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129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for i in range(3):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print("안녕", i)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for n in range(1, 4):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print(n)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3188625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3260625"/>
            <a:ext cx="4356000" cy="153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안녕 0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안녕 1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안녕 2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076000"/>
            <a:ext cx="5616000" cy="504000"/>
          </a:xfrm>
          <a:prstGeom prst="roundRect">
            <a:avLst/>
          </a:prstGeom>
          <a:solidFill>
            <a:srgbClr val="FDF3DD"/>
          </a:solidFill>
          <a:ln w="12700">
            <a:solidFill>
              <a:srgbClr val="C98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" y="5076000"/>
            <a:ext cx="52488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8A6410"/>
                </a:solidFill>
                <a:latin typeface="나눔고딕"/>
                <a:ea typeface="나눔고딕"/>
                <a:cs typeface="나눔고딕"/>
              </a:rPr>
              <a:t>range는 그릇이 아니다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6B5312"/>
                </a:solidFill>
                <a:latin typeface="나눔고딕"/>
                <a:ea typeface="나눔고딕"/>
                <a:cs typeface="나눔고딕"/>
              </a:rPr>
              <a:t>숫자를 순서대로 만들어 내는 장치 — 진짜 그릇(리스트)은 다음 주입니다.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range의 끝은 미포함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range(1, 6)은 1~5 — 오늘 실습에서 가장 많이 만나게 될 실수입니다.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3주차 파이썬 기초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4 · 누적합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합계 상자 만들기 — total = total + 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1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반복 전에 상자를 준비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total = 0 — 0에서 시작해 하나씩 더한다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5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total += n은 짧은 표기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total = total + n과 같다 — 더한 결과가 다시 total로 들어간다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82000"/>
            <a:ext cx="50400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반복이 돌 때 total의 변화 — print(total)이 루프 안에 있었다면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780000"/>
          <a:ext cx="5112000" cy="20520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1656000"/>
                <a:gridCol w="1296000"/>
                <a:gridCol w="2160000"/>
              </a:tblGrid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반복</a:t>
                      </a:r>
                    </a:p>
                  </a:txBody>
                  <a:tcPr marL="82296" marR="82296" marT="82296" marB="82296" anchor="ctr">
                    <a:solidFill>
                      <a:srgbClr val="17406B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n</a:t>
                      </a:r>
                    </a:p>
                  </a:txBody>
                  <a:tcPr marL="82296" marR="82296" marT="82296" marB="82296" anchor="ctr">
                    <a:solidFill>
                      <a:srgbClr val="17406B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total</a:t>
                      </a:r>
                    </a:p>
                  </a:txBody>
                  <a:tcPr marL="82296" marR="82296" marT="82296" marB="82296" anchor="ctr">
                    <a:solidFill>
                      <a:srgbClr val="17406B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1회차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2회차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3회차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6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4회차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10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5회차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5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15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904800" y="1602000"/>
            <a:ext cx="4802400" cy="199425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[12]: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2400" y="1929600"/>
            <a:ext cx="4356000" cy="109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total = 0</a:t>
            </a:r>
          </a:p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for n in range(1, 6):</a:t>
            </a:r>
          </a:p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total += n</a:t>
            </a:r>
          </a:p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print(total)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42400" y="298860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42400" y="3060600"/>
            <a:ext cx="4356000" cy="355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</a:pPr>
            <a:r>
              <a:rPr sz="130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4800" y="3708000"/>
            <a:ext cx="4802400" cy="189900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3600" y="3798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[13]: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2400" y="4035600"/>
            <a:ext cx="4356000" cy="10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2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total = 0</a:t>
            </a:r>
          </a:p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2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total += 10</a:t>
            </a:r>
          </a:p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2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total += 20</a:t>
            </a:r>
          </a:p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2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print(total)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42400" y="501840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42400" y="5090400"/>
            <a:ext cx="4356000" cy="3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</a:pPr>
            <a:r>
              <a:rPr sz="120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3주차 파이썬 기초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STEP 4 · while과 탈출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while — 조건이 참인 동안 계속 반복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while 조건: — 참인 동안만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조건을 거짓으로 만드는 줄(count += 1)이 반드시 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break — 즉시 탈출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if와 함께 써서 "이 조건이면 그만"을 만든다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continue — 이번 바퀴만 건너뛰기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아래 코드를 건너뛰고 다음 값으로 — 실습 노트북에서 연습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3375375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[14]: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177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n = 1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while True: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print(n)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if n == 3: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    break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n += 1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print("끝")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3664875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3736875"/>
            <a:ext cx="4356000" cy="106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l">
              <a:lnSpc>
                <a:spcPts val="1875"/>
              </a:lnSpc>
              <a:spcAft>
                <a:spcPts val="0"/>
              </a:spcAft>
            </a:pPr>
            <a:r>
              <a:rPr sz="12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076000"/>
            <a:ext cx="5616000" cy="504000"/>
          </a:xfrm>
          <a:prstGeom prst="roundRect">
            <a:avLst/>
          </a:prstGeom>
          <a:solidFill>
            <a:srgbClr val="FDF3DD"/>
          </a:solidFill>
          <a:ln w="12700">
            <a:solidFill>
              <a:srgbClr val="C98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" y="5076000"/>
            <a:ext cx="52488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8A6410"/>
                </a:solidFill>
                <a:latin typeface="나눔고딕"/>
                <a:ea typeface="나눔고딕"/>
                <a:cs typeface="나눔고딕"/>
              </a:rPr>
              <a:t>while이 필요한 순간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6B5312"/>
                </a:solidFill>
                <a:latin typeface="나눔고딕"/>
                <a:ea typeface="나눔고딕"/>
                <a:cs typeface="나눔고딕"/>
              </a:rPr>
              <a:t>"~할 때까지"가 명확하면 while, "몇 번"이 정해져 있으면 for + range().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무한 루프 조심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조건이 영원히 참이면 멈추지 않습니다 — Colab 상단의 ■ 정지 버튼으로 탈출합니다.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3주차 파이썬 기초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데이터로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1주차의 그 한 줄 — 이제 전부 읽을 수 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1주차: sum(temps) / len(temps)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합계와 개수를 도구에게 맡겼다 — 그때는 마법 같은 한 줄이었다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오늘: 반복문으로 같은 답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for로 하나씩 더하면 sum()이 하는 일 그대로 — 원리는 누적합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96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평균 = 합계 ÷ 개수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total / len(temps) — 5주차 넘파이는 temps.mean() 한 줄로 끝낸다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4800" y="1602000"/>
            <a:ext cx="4802400" cy="294675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[15]: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2400" y="1929600"/>
            <a:ext cx="4356000" cy="186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temps = [18.5, 19.2, 21.0, 19.8, 22.3]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total = 0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for t in temps: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total += t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print(total / len(temps))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print(sum(temps) / len(temps))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42400" y="375060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2400" y="3822600"/>
            <a:ext cx="4356000" cy="546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20.16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20.16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076000"/>
            <a:ext cx="5616000" cy="504000"/>
          </a:xfrm>
          <a:prstGeom prst="roundRect">
            <a:avLst/>
          </a:prstGeom>
          <a:solidFill>
            <a:srgbClr val="FDF3DD"/>
          </a:solidFill>
          <a:ln w="12700">
            <a:solidFill>
              <a:srgbClr val="C98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" y="5076000"/>
            <a:ext cx="52488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8A6410"/>
                </a:solidFill>
                <a:latin typeface="나눔고딕"/>
                <a:ea typeface="나눔고딕"/>
                <a:cs typeface="나눔고딕"/>
              </a:rPr>
              <a:t>리스트는 오늘 그릇으로만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6B5312"/>
                </a:solidFill>
                <a:latin typeface="나눔고딕"/>
                <a:ea typeface="나눔고딕"/>
                <a:cs typeface="나눔고딕"/>
              </a:rPr>
              <a:t>[ ] 안에 쉼표로 나열 — 자세한 사용법은 4주차 자료구조에서 다룹니다.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같은 답, 두 가지 길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sum()/len()과 반복 누적의 결과는 똑같이 20.16 — 도구는 계속 좋아집니다.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3주차 파이썬 기초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체크 · 자주 하는 실수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들여쓰기와 = vs == — 파이썬이 알려 주는 에러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0000"/>
            <a:ext cx="5508000" cy="3672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20000"/>
            <a:ext cx="5148000" cy="36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실수 ①  들여쓰기 빼먹기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>
                <a:solidFill>
                  <a:srgbClr val="2A5379"/>
                </a:solidFill>
                <a:latin typeface="Consolas"/>
                <a:ea typeface="Consolas"/>
                <a:cs typeface="Consolas"/>
              </a:rPr>
              <a:t>if x &gt; 5: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50" b="0">
                <a:solidFill>
                  <a:srgbClr val="2A5379"/>
                </a:solidFill>
                <a:latin typeface="Consolas"/>
                <a:ea typeface="Consolas"/>
                <a:cs typeface="Consolas"/>
              </a:rPr>
              <a:t>print("크다")   ← 4칸 안으로 안 들어가면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증상  IndentationError — 콜론 다음 줄은 반드시 들여쓰기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고치기  스페이스 4칸! 탭과 섞지 않기 — 같은 블록은 같은 깊이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8000" y="1620000"/>
            <a:ext cx="5508000" cy="3672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8000" y="1620000"/>
            <a:ext cx="5148000" cy="36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실수 ②  = 와 == 헷갈리기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50" b="0">
                <a:solidFill>
                  <a:srgbClr val="2A5379"/>
                </a:solidFill>
                <a:latin typeface="Consolas"/>
                <a:ea typeface="Consolas"/>
                <a:cs typeface="Consolas"/>
              </a:rPr>
              <a:t>if x = 5:    ← 대입 연산자를 조건에 쓰면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증상  SyntaxError — 문법 오류라고 바로 알려 준다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구분  x = 5는 담기(대입), x == 5는 비교(질문)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고치기  조건 자리에는 ==, &gt;= 같은 비교 연산자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에러는 적이 아니라 안내원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에러 메시지의 마지막 줄에 종류와 줄 번호가 있습니다 — 거기부터 읽으세요.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3주차 파이썬 기초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체크 · 자주 하는 실수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문자열 + 숫자, range의 끝 — 실행 전에 예측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0000"/>
            <a:ext cx="5508000" cy="3672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20000"/>
            <a:ext cx="5148000" cy="36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실수 ③  문자열 + 숫자 더하기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50" b="0">
                <a:solidFill>
                  <a:srgbClr val="2A5379"/>
                </a:solidFill>
                <a:latin typeface="Consolas"/>
                <a:ea typeface="Consolas"/>
                <a:cs typeface="Consolas"/>
              </a:rPr>
              <a:t>"합계: " + 3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증상  TypeError — 글자와 숫자는 +로 연결되지 않는다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고치기  f"합계: {3}" — f-string으로 담아 출력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참고  str(3)은 숫자를 글자로 바꾸는 함수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8000" y="1620000"/>
            <a:ext cx="5508000" cy="3672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8000" y="1620000"/>
            <a:ext cx="5148000" cy="36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실수 ④  range의 끝을 포함한다고 착각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350" b="0">
                <a:solidFill>
                  <a:srgbClr val="2A5379"/>
                </a:solidFill>
                <a:latin typeface="Consolas"/>
                <a:ea typeface="Consolas"/>
                <a:cs typeface="Consolas"/>
              </a:rPr>
              <a:t>range(1, 11)  →  1, 2, …, 10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증상  11이 빠진다 — 끝 숫자는 "그 전까지"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고치기  1~100을 다 더하려면 range(1, 101)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참고  시작을 생략한 range(5)는 0부터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실행 전 3초 예측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첫 반복 · 마지막 반복 · 최종 출력을 말로 예측 — 예측과 결과의 차이가 가장 큰 공부가 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3주차 파이썬 기초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PBL · 실습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week03 노트북 — 오늘의 미션 세 가지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0000"/>
            <a:ext cx="3708000" cy="3456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20000"/>
            <a:ext cx="3348000" cy="345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0A202"/>
                </a:solidFill>
                <a:latin typeface="나눔고딕"/>
                <a:ea typeface="나눔고딕"/>
                <a:cs typeface="나눔고딕"/>
              </a:rPr>
              <a:t>미션 1 · 난이도 ★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구구단 3단 출력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50" b="0">
                <a:solidFill>
                  <a:srgbClr val="2A5379"/>
                </a:solidFill>
                <a:latin typeface="Consolas"/>
                <a:ea typeface="Consolas"/>
                <a:cs typeface="Consolas"/>
              </a:rPr>
              <a:t>for n in range(1, 10):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3 x 1 = 3 부터 3 x 9 = 27까지 아홉 줄 — f-string으로 문장 만들기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포인트  for + range + f-string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200" y="1620000"/>
            <a:ext cx="3708000" cy="3456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9200" y="1620000"/>
            <a:ext cx="3348000" cy="345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0A202"/>
                </a:solidFill>
                <a:latin typeface="나눔고딕"/>
                <a:ea typeface="나눔고딕"/>
                <a:cs typeface="나눔고딕"/>
              </a:rPr>
              <a:t>미션 2 · 난이도 ★★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1~100 짝수의 합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50" b="0">
                <a:solidFill>
                  <a:srgbClr val="2A5379"/>
                </a:solidFill>
                <a:latin typeface="Consolas"/>
                <a:ea typeface="Consolas"/>
                <a:cs typeface="Consolas"/>
              </a:rPr>
              <a:t>range(2, 101, 2)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짝수만 더해 합계 출력 — 힌트: range의 세 번째 칸은 "건너뛰기"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포인트  누적합 + range의 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41200" y="1620000"/>
            <a:ext cx="3708000" cy="3456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21200" y="1620000"/>
            <a:ext cx="3348000" cy="345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0A202"/>
                </a:solidFill>
                <a:latin typeface="나눔고딕"/>
                <a:ea typeface="나눔고딕"/>
                <a:cs typeface="나눔고딕"/>
              </a:rPr>
              <a:t>미션 3 · 난이도 ★★★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별 찍기 삼각형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50" b="0">
                <a:solidFill>
                  <a:srgbClr val="2A5379"/>
                </a:solidFill>
                <a:latin typeface="Consolas"/>
                <a:ea typeface="Consolas"/>
                <a:cs typeface="Consolas"/>
              </a:rPr>
              <a:t>print("*", end="")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행마다 별이 하나씩 늘어나는 삼각형 — * / ** / ***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포인트  반복 안의 반복(중첩)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제출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Colab 노트북 week03 실습 — 미션 3개 셀을 실행한 상태로 저장, 다음 주 수업 전까지 제출합니다.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3주차 파이썬 기초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마무리 · 따라 하기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오늘의 총정리 코드 — 평균과 학점 한 번에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6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① 데이터를 담는다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name, scores — 변수에 이름표 (STEP 1 · 변수와 자료형)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4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② 반복으로 더한다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for s in scores: total += s (STEP 4 · 누적합)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24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③ 계산하고 판단한다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평균 계산 → f-string 출력 → if·elif 학점 판정 (STEP 2 · 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40000"/>
            <a:ext cx="5616000" cy="504000"/>
          </a:xfrm>
          <a:prstGeom prst="roundRect">
            <a:avLst/>
          </a:prstGeom>
          <a:solidFill>
            <a:srgbClr val="FDF3DD"/>
          </a:solidFill>
          <a:ln w="12700">
            <a:solidFill>
              <a:srgbClr val="C98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800" y="5040000"/>
            <a:ext cx="52488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8A6410"/>
                </a:solidFill>
                <a:latin typeface="나눔고딕"/>
                <a:ea typeface="나눔고딕"/>
                <a:cs typeface="나눔고딕"/>
              </a:rPr>
              <a:t>따라 하기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6B5312"/>
                </a:solidFill>
                <a:latin typeface="나눔고딕"/>
                <a:ea typeface="나눔고딕"/>
                <a:cs typeface="나눔고딕"/>
              </a:rPr>
              <a:t>Colab에 직접 타이핑 — 이름과 점수를 내 것으로 바꿔 다시 실행해 보세요.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4800" y="1602000"/>
            <a:ext cx="4802400" cy="3899250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[16]: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2400" y="1929600"/>
            <a:ext cx="4356000" cy="2832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</a:pPr>
            <a:r>
              <a:rPr sz="11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name = "김하늘"</a:t>
            </a:r>
          </a:p>
          <a:p>
            <a:pPr algn="l">
              <a:lnSpc>
                <a:spcPts val="1650"/>
              </a:lnSpc>
              <a:spcAft>
                <a:spcPts val="0"/>
              </a:spcAft>
            </a:pPr>
            <a:r>
              <a:rPr sz="11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scores = [92, 78, 85]</a:t>
            </a:r>
          </a:p>
          <a:p>
            <a:pPr algn="l">
              <a:lnSpc>
                <a:spcPts val="1650"/>
              </a:lnSpc>
              <a:spcAft>
                <a:spcPts val="0"/>
              </a:spcAft>
            </a:pPr>
            <a:r>
              <a:rPr sz="11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total = 0</a:t>
            </a:r>
          </a:p>
          <a:p>
            <a:pPr algn="l">
              <a:lnSpc>
                <a:spcPts val="1650"/>
              </a:lnSpc>
              <a:spcAft>
                <a:spcPts val="0"/>
              </a:spcAft>
            </a:pPr>
            <a:r>
              <a:rPr sz="11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for s in scores:</a:t>
            </a:r>
          </a:p>
          <a:p>
            <a:pPr algn="l">
              <a:lnSpc>
                <a:spcPts val="1650"/>
              </a:lnSpc>
              <a:spcAft>
                <a:spcPts val="0"/>
              </a:spcAft>
            </a:pPr>
            <a:r>
              <a:rPr sz="11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total += s</a:t>
            </a:r>
          </a:p>
          <a:p>
            <a:pPr algn="l">
              <a:lnSpc>
                <a:spcPts val="1650"/>
              </a:lnSpc>
              <a:spcAft>
                <a:spcPts val="0"/>
              </a:spcAft>
            </a:pPr>
            <a:r>
              <a:rPr sz="11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avg = total / len(scores)</a:t>
            </a:r>
          </a:p>
          <a:p>
            <a:pPr algn="l">
              <a:lnSpc>
                <a:spcPts val="1650"/>
              </a:lnSpc>
              <a:spcAft>
                <a:spcPts val="0"/>
              </a:spcAft>
            </a:pPr>
            <a:r>
              <a:rPr sz="11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print(f"{name}의 평균: {avg}점")</a:t>
            </a:r>
          </a:p>
          <a:p>
            <a:pPr algn="l">
              <a:lnSpc>
                <a:spcPts val="1650"/>
              </a:lnSpc>
              <a:spcAft>
                <a:spcPts val="0"/>
              </a:spcAft>
            </a:pPr>
            <a:r>
              <a:rPr sz="11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if avg &gt;= 90:</a:t>
            </a:r>
          </a:p>
          <a:p>
            <a:pPr algn="l">
              <a:lnSpc>
                <a:spcPts val="1650"/>
              </a:lnSpc>
              <a:spcAft>
                <a:spcPts val="0"/>
              </a:spcAft>
            </a:pPr>
            <a:r>
              <a:rPr sz="11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print("학점 A")</a:t>
            </a:r>
          </a:p>
          <a:p>
            <a:pPr algn="l">
              <a:lnSpc>
                <a:spcPts val="1650"/>
              </a:lnSpc>
              <a:spcAft>
                <a:spcPts val="0"/>
              </a:spcAft>
            </a:pPr>
            <a:r>
              <a:rPr sz="11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elif avg &gt;= 80:</a:t>
            </a:r>
          </a:p>
          <a:p>
            <a:pPr algn="l">
              <a:lnSpc>
                <a:spcPts val="1650"/>
              </a:lnSpc>
              <a:spcAft>
                <a:spcPts val="0"/>
              </a:spcAft>
            </a:pPr>
            <a:r>
              <a:rPr sz="11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print("학점 B")</a:t>
            </a:r>
          </a:p>
          <a:p>
            <a:pPr algn="l">
              <a:lnSpc>
                <a:spcPts val="1650"/>
              </a:lnSpc>
              <a:spcAft>
                <a:spcPts val="0"/>
              </a:spcAft>
            </a:pPr>
            <a:r>
              <a:rPr sz="11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else:</a:t>
            </a:r>
          </a:p>
          <a:p>
            <a:pPr algn="l">
              <a:lnSpc>
                <a:spcPts val="1650"/>
              </a:lnSpc>
              <a:spcAft>
                <a:spcPts val="0"/>
              </a:spcAft>
            </a:pPr>
            <a:r>
              <a:rPr sz="110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print("학점 C")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42400" y="4722150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42400" y="4794150"/>
            <a:ext cx="4356000" cy="527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</a:pPr>
            <a:r>
              <a:rPr sz="110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김하늘의 평균: 85.0점</a:t>
            </a:r>
          </a:p>
          <a:p>
            <a:pPr algn="l">
              <a:lnSpc>
                <a:spcPts val="1650"/>
              </a:lnSpc>
              <a:spcAft>
                <a:spcPts val="0"/>
              </a:spcAft>
            </a:pPr>
            <a:r>
              <a:rPr sz="110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학점 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3주차 파이썬 기초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마무리 · 따라 하기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숫자를 바꾸면 무엇이 달라질까 — 예측하고 실행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1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실행 전에 예측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scores를 [95, 92, 88]로 바꾸면? — 평균 91.7, elif가 자동으로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90000"/>
            <a:ext cx="5400000" cy="89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소수가 거슬리면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round(avg, 1) — 소수 첫째 자리에서 반올림해 출력한다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08000"/>
            <a:ext cx="50400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17406B"/>
                </a:solidFill>
                <a:latin typeface="나눔고딕"/>
                <a:ea typeface="나눔고딕"/>
                <a:cs typeface="나눔고딕"/>
              </a:rPr>
              <a:t>print(total)이 루프 안에 있었다면 — 매번 이렇게 찍혔을 것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906000"/>
          <a:ext cx="5112000" cy="13680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1656000"/>
                <a:gridCol w="1296000"/>
                <a:gridCol w="2160000"/>
              </a:tblGrid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반복</a:t>
                      </a:r>
                    </a:p>
                  </a:txBody>
                  <a:tcPr marL="82296" marR="82296" marT="82296" marB="82296" anchor="ctr">
                    <a:solidFill>
                      <a:srgbClr val="17406B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s</a:t>
                      </a:r>
                    </a:p>
                  </a:txBody>
                  <a:tcPr marL="82296" marR="82296" marT="82296" marB="82296" anchor="ctr">
                    <a:solidFill>
                      <a:srgbClr val="17406B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total</a:t>
                      </a:r>
                    </a:p>
                  </a:txBody>
                  <a:tcPr marL="82296" marR="82296" marT="82296" marB="82296" anchor="ctr">
                    <a:solidFill>
                      <a:srgbClr val="17406B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1회차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92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92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2회차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78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170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3D4C5A"/>
                          </a:solidFill>
                          <a:latin typeface="나눔고딕"/>
                          <a:ea typeface="나눔고딕"/>
                          <a:cs typeface="나눔고딕"/>
                        </a:rPr>
                        <a:t>3회차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85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7406B"/>
                          </a:solidFill>
                          <a:latin typeface="Consolas"/>
                          <a:ea typeface="Consolas"/>
                          <a:cs typeface="Consolas"/>
                        </a:rPr>
                        <a:t>255</a:t>
                      </a:r>
                    </a:p>
                  </a:txBody>
                  <a:tcPr marL="82296" marR="82296" marT="82296" marB="82296" anchor="ctr">
                    <a:solidFill>
                      <a:srgbClr val="FFFFFF"/>
                    </a:solidFill>
                    <a:lnL w="9525" cap="flat" cmpd="sng" algn="ctr">
                      <a:solidFill>
                        <a:srgbClr val="C9DAEA"/>
                      </a:solidFill>
                      <a:prstDash val="solid"/>
                    </a:lnL>
                    <a:lnR w="9525" cap="flat" cmpd="sng" algn="ctr">
                      <a:solidFill>
                        <a:srgbClr val="C9DAEA"/>
                      </a:solidFill>
                      <a:prstDash val="solid"/>
                    </a:lnR>
                    <a:lnT w="9525" cap="flat" cmpd="sng" algn="ctr">
                      <a:solidFill>
                        <a:srgbClr val="C9DAEA"/>
                      </a:solidFill>
                      <a:prstDash val="solid"/>
                    </a:lnT>
                    <a:lnB w="9525" cap="flat" cmpd="sng" algn="ctr">
                      <a:solidFill>
                        <a:srgbClr val="C9DA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904800" y="1602000"/>
            <a:ext cx="4802400" cy="3165825"/>
          </a:xfrm>
          <a:prstGeom prst="roundRect">
            <a:avLst/>
          </a:prstGeom>
          <a:solidFill>
            <a:srgbClr val="13293D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3600" y="1692000"/>
            <a:ext cx="1371600" cy="21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7C99AD"/>
                </a:solidFill>
                <a:latin typeface="Consolas"/>
                <a:ea typeface="Consolas"/>
                <a:cs typeface="Consolas"/>
              </a:rPr>
              <a:t>In [17]: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2400" y="1929600"/>
            <a:ext cx="4356000" cy="2079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name = "김하늘"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scores = [95, 92, 88]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total = 0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for s in scores: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total += s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avg = total / len(scores)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print(f"{name}: {round(avg, 1)}점")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if avg &gt;= 90: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E9EFF5"/>
                </a:solidFill>
                <a:latin typeface="Consolas"/>
                <a:ea typeface="Consolas"/>
                <a:cs typeface="Consolas"/>
              </a:rPr>
              <a:t>    print("학점 A")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42400" y="3969675"/>
            <a:ext cx="4327200" cy="0"/>
          </a:xfrm>
          <a:prstGeom prst="line">
            <a:avLst/>
          </a:prstGeom>
          <a:ln w="12096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42400" y="4041675"/>
            <a:ext cx="4356000" cy="546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김하늘: 91.7점</a:t>
            </a:r>
          </a:p>
          <a:p>
            <a:pPr algn="l">
              <a:lnSpc>
                <a:spcPts val="1725"/>
              </a:lnSpc>
              <a:spcAft>
                <a:spcPts val="0"/>
              </a:spcAft>
            </a:pPr>
            <a:r>
              <a:rPr sz="1150" b="0">
                <a:solidFill>
                  <a:srgbClr val="A9C6DE"/>
                </a:solidFill>
                <a:latin typeface="Consolas"/>
                <a:ea typeface="Consolas"/>
                <a:cs typeface="Consolas"/>
              </a:rPr>
              <a:t>학점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4800" y="5040000"/>
            <a:ext cx="4802400" cy="504000"/>
          </a:xfrm>
          <a:prstGeom prst="roundRect">
            <a:avLst/>
          </a:prstGeom>
          <a:solidFill>
            <a:srgbClr val="FDF3DD"/>
          </a:solidFill>
          <a:ln w="12700">
            <a:solidFill>
              <a:srgbClr val="C98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8400" y="5040000"/>
            <a:ext cx="44352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8A6410"/>
                </a:solidFill>
                <a:latin typeface="나눔고딕"/>
                <a:ea typeface="나눔고딕"/>
                <a:cs typeface="나눔고딕"/>
              </a:rPr>
              <a:t>round()는 보기 좋게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6B5312"/>
                </a:solidFill>
                <a:latin typeface="나눔고딕"/>
                <a:ea typeface="나눔고딕"/>
                <a:cs typeface="나눔고딕"/>
              </a:rPr>
              <a:t>숫자를 반올림해 출력 — 6주차 판다스에서도 계속 쓰입니다.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예측 → 실행 → 확인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틀려도 괜찮습니다 — 예측과 결과의 차이가 가장 오래 기억에 남습니다.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2026 컴퓨터코딩 · 3주차 파이썬 기초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4000"/>
            <a:ext cx="36576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6400"/>
            <a:ext cx="10058400" cy="59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오늘의 핵심 다섯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0000"/>
            <a:ext cx="7776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8400" y="1782000"/>
            <a:ext cx="102420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변수는 담는다, ==는 묻는다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= 대입 · == 비교 — int · float · str · bool 네 자료형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18400" y="2552400"/>
            <a:ext cx="9784800" cy="0"/>
          </a:xfrm>
          <a:prstGeom prst="line">
            <a:avLst/>
          </a:prstGeom>
          <a:ln w="12096">
            <a:solidFill>
              <a:srgbClr val="1B3C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640600"/>
            <a:ext cx="7776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8400" y="2622600"/>
            <a:ext cx="102420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산술 7개, 비교 6개, 논리 3개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/와 //의 차이 — and · or · not으로 조건을 엮는다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8400" y="3393000"/>
            <a:ext cx="9784800" cy="0"/>
          </a:xfrm>
          <a:prstGeom prst="line">
            <a:avLst/>
          </a:prstGeom>
          <a:ln w="12096">
            <a:solidFill>
              <a:srgbClr val="1B3C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3481200"/>
            <a:ext cx="7776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8400" y="3463200"/>
            <a:ext cx="102420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if · elif · else — 위에서부터 검사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처음 참인 블록만 실행 — 들여쓰기 4칸이 하나의 블록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18400" y="4233600"/>
            <a:ext cx="9784800" cy="0"/>
          </a:xfrm>
          <a:prstGeom prst="line">
            <a:avLst/>
          </a:prstGeom>
          <a:ln w="12096">
            <a:solidFill>
              <a:srgbClr val="1B3C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4321800"/>
            <a:ext cx="7776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8400" y="4303800"/>
            <a:ext cx="102420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for + range() · while — 반복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range의 끝은 미포함 — 누적합 total += 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18400" y="5074200"/>
            <a:ext cx="9784800" cy="0"/>
          </a:xfrm>
          <a:prstGeom prst="line">
            <a:avLst/>
          </a:prstGeom>
          <a:ln w="12096">
            <a:solidFill>
              <a:srgbClr val="1B3C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5162400"/>
            <a:ext cx="777600" cy="54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>
                <a:solidFill>
                  <a:srgbClr val="F0A202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8400" y="5144400"/>
            <a:ext cx="102420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5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문법은 데이터 분석의 동사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평균을 직접 만들었다 — 다음은 데이터의 그릇, 자료구조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8400" y="6033600"/>
            <a:ext cx="9601200" cy="29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PBL 미션 3개(구구단 3단 · 짝수 합 · 별 찍기) — week03 노트북을 끝까지 실행하고 제출하기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2026 컴퓨터코딩 · 3주차 파이썬 기초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5E6E7E"/>
                </a:solidFill>
                <a:latin typeface="나눔고딕"/>
                <a:ea typeface="나눔고딕"/>
                <a:cs typeface="나눔고딕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3200"/>
            <a:ext cx="914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4A7BA6"/>
                </a:solidFill>
                <a:latin typeface="나눔고딕"/>
                <a:ea typeface="나눔고딕"/>
                <a:cs typeface="나눔고딕"/>
              </a:rPr>
              <a:t>PBL · 셀프 체크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800"/>
            <a:ext cx="11246400" cy="5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70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오늘의 퀴즈 — 30초 고민하고 정답 확인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0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620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Q1  range(1, 4)는 몇을 반복할까?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끝 숫자 4는 포함될까, 안 될까?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200" y="1620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7200" y="1620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Q2  x = 5 뒤의 x == 5 값은?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= 하나와 == 두 개, 역할이 다르다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22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200" y="3222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Q3  "합계: " + 3 은 실행될까?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글자와 숫자를 + 하면 어떻게 될까?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200" y="3222000"/>
            <a:ext cx="5508000" cy="1404000"/>
          </a:xfrm>
          <a:prstGeom prst="roundRect">
            <a:avLst/>
          </a:prstGeom>
          <a:solidFill>
            <a:srgbClr val="EDF4FA"/>
          </a:solidFill>
          <a:ln w="12096">
            <a:solidFill>
              <a:srgbClr val="C9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200" y="3222000"/>
            <a:ext cx="5148000" cy="14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1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Q4  1~100 짝수 합, range로 쓰면?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3D4C5A"/>
                </a:solidFill>
                <a:latin typeface="나눔고딕"/>
                <a:ea typeface="나눔고딕"/>
                <a:cs typeface="나눔고딕"/>
              </a:rPr>
              <a:t>시작 2, 끝 101, 건너뛰기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623200"/>
            <a:ext cx="12192120" cy="622800"/>
          </a:xfrm>
          <a:prstGeom prst="rect">
            <a:avLst/>
          </a:prstGeom>
          <a:solidFill>
            <a:srgbClr val="FD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623200"/>
            <a:ext cx="11275200" cy="62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C9890B"/>
                </a:solidFill>
                <a:latin typeface="나눔고딕"/>
                <a:ea typeface="나눔고딕"/>
                <a:cs typeface="나눔고딕"/>
              </a:rPr>
              <a:t>정답  </a:t>
            </a:r>
            <a:r>
              <a:rPr sz="1350" b="0">
                <a:solidFill>
                  <a:srgbClr val="1E2A36"/>
                </a:solidFill>
                <a:latin typeface="나눔고딕"/>
                <a:ea typeface="나눔고딕"/>
                <a:cs typeface="나눔고딕"/>
              </a:rPr>
              <a:t>Q1 3 (4 미포함) · Q2 True · Q3 TypeError · Q4 range(2, 101, 2) — 전부 오늘 배운 것입니다.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72800"/>
            <a:ext cx="6400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2026 컴퓨터코딩 · 3주차 파이썬 기초 문법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28400" y="6472800"/>
            <a:ext cx="504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300"/>
              </a:spcAft>
            </a:pPr>
            <a:r>
              <a:rPr sz="120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200"/>
            <a:ext cx="5486400" cy="29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다음 주 예고 · 4주차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89600"/>
            <a:ext cx="10515600" cy="77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나눔고딕"/>
                <a:ea typeface="나눔고딕"/>
                <a:cs typeface="나눔고딕"/>
              </a:rPr>
              <a:t>파이썬 자료구조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39200"/>
            <a:ext cx="9601200" cy="36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리스트 · 튜플 · 딕셔너리 · 집합 — 데이터에 맞는 그릇을 고릅니다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84000"/>
            <a:ext cx="3708000" cy="1656000"/>
          </a:xfrm>
          <a:prstGeom prst="roundRect">
            <a:avLst/>
          </a:prstGeom>
          <a:solidFill>
            <a:srgbClr val="12283C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200" y="3384000"/>
            <a:ext cx="3348000" cy="165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F0A202"/>
                </a:solidFill>
                <a:latin typeface="나눔고딕"/>
                <a:ea typeface="나눔고딕"/>
                <a:cs typeface="나눔고딕"/>
              </a:rPr>
              <a:t>리스트 · 튜플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여러 값을 한 그릇에 — 순서가 있는 그릇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18000" y="3384000"/>
            <a:ext cx="3708000" cy="1656000"/>
          </a:xfrm>
          <a:prstGeom prst="roundRect">
            <a:avLst/>
          </a:prstGeom>
          <a:solidFill>
            <a:srgbClr val="12283C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8000" y="3384000"/>
            <a:ext cx="3348000" cy="165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F0A202"/>
                </a:solidFill>
                <a:latin typeface="나눔고딕"/>
                <a:ea typeface="나눔고딕"/>
                <a:cs typeface="나눔고딕"/>
              </a:rPr>
              <a:t>딕셔너리 · 집합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이름표로 찾고, 중복은 거르는 그릇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200" y="2952000"/>
            <a:ext cx="30168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>
                <a:solidFill>
                  <a:srgbClr val="9FB6C9"/>
                </a:solidFill>
                <a:latin typeface="나눔고딕"/>
                <a:ea typeface="나눔고딕"/>
                <a:cs typeface="나눔고딕"/>
              </a:rPr>
              <a:t>오늘의 for가 다음 주에도 주인공입니다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50000" y="3384000"/>
            <a:ext cx="3200400" cy="1371600"/>
          </a:xfrm>
          <a:prstGeom prst="roundRect">
            <a:avLst/>
          </a:prstGeom>
          <a:solidFill>
            <a:srgbClr val="12283C"/>
          </a:solidFill>
          <a:ln w="12096">
            <a:solidFill>
              <a:srgbClr val="22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3600" y="3384000"/>
            <a:ext cx="28332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1">
                <a:solidFill>
                  <a:srgbClr val="F0A202"/>
                </a:solidFill>
                <a:latin typeface="나눔고딕"/>
                <a:ea typeface="나눔고딕"/>
                <a:cs typeface="나눔고딕"/>
              </a:rPr>
              <a:t>준비물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C7D8E7"/>
                </a:solidFill>
                <a:latin typeface="나눔고딕"/>
                <a:ea typeface="나눔고딕"/>
                <a:cs typeface="나눔고딕"/>
              </a:rPr>
              <a:t>① week03 실습 노트북 끝까지 완주하기  ② 3주차 문법(특히 for와 if) 복습하기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나눔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나눔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나눔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나눔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